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3.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16"/>
  </p:notesMasterIdLst>
  <p:sldIdLst>
    <p:sldId id="256" r:id="rId2"/>
    <p:sldId id="257" r:id="rId3"/>
    <p:sldId id="270" r:id="rId4"/>
    <p:sldId id="271" r:id="rId5"/>
    <p:sldId id="272" r:id="rId6"/>
    <p:sldId id="273" r:id="rId7"/>
    <p:sldId id="264" r:id="rId8"/>
    <p:sldId id="275" r:id="rId9"/>
    <p:sldId id="276" r:id="rId10"/>
    <p:sldId id="277" r:id="rId11"/>
    <p:sldId id="278" r:id="rId12"/>
    <p:sldId id="279" r:id="rId13"/>
    <p:sldId id="280"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3B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157" autoAdjust="0"/>
  </p:normalViewPr>
  <p:slideViewPr>
    <p:cSldViewPr snapToGrid="0">
      <p:cViewPr varScale="1">
        <p:scale>
          <a:sx n="76" d="100"/>
          <a:sy n="76" d="100"/>
        </p:scale>
        <p:origin x="94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b5b1709b97687c7d/NEW%20PIVOTS%20AND%20GRAPH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b5b1709b97687c7d/NEW%20PIVOTS%20AND%20GRAPH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b5b1709b97687c7d/NEW%20PIVOTS%20AND%20GRAPH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[NEW PIVOTS AND GRAPHS.xlsx]Sheet1!PivotTable32</c:name>
    <c:fmtId val="21"/>
  </c:pivotSource>
  <c:chart>
    <c:autoTitleDeleted val="1"/>
    <c:pivotFmts>
      <c:pivotFmt>
        <c:idx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diamond"/>
          <c:size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Sheet1!$C$4</c:f>
              <c:strCache>
                <c:ptCount val="1"/>
                <c:pt idx="0">
                  <c:v>Total</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Sheet1!$B$5:$B$16</c:f>
              <c:strCache>
                <c:ptCount val="11"/>
                <c:pt idx="0">
                  <c:v>Eastern Cape</c:v>
                </c:pt>
                <c:pt idx="1">
                  <c:v>Free State</c:v>
                </c:pt>
                <c:pt idx="2">
                  <c:v>Gauteng</c:v>
                </c:pt>
                <c:pt idx="3">
                  <c:v>Kwazulu Natal</c:v>
                </c:pt>
                <c:pt idx="4">
                  <c:v>Limpopo</c:v>
                </c:pt>
                <c:pt idx="5">
                  <c:v>Mpumalanga</c:v>
                </c:pt>
                <c:pt idx="6">
                  <c:v>None</c:v>
                </c:pt>
                <c:pt idx="7">
                  <c:v>North West</c:v>
                </c:pt>
                <c:pt idx="8">
                  <c:v>Northern Cape</c:v>
                </c:pt>
                <c:pt idx="9">
                  <c:v>Unknown Province</c:v>
                </c:pt>
                <c:pt idx="10">
                  <c:v>Western Cape</c:v>
                </c:pt>
              </c:strCache>
            </c:strRef>
          </c:cat>
          <c:val>
            <c:numRef>
              <c:f>Sheet1!$C$5:$C$16</c:f>
              <c:numCache>
                <c:formatCode>General</c:formatCode>
                <c:ptCount val="11"/>
                <c:pt idx="0">
                  <c:v>718</c:v>
                </c:pt>
                <c:pt idx="1">
                  <c:v>308</c:v>
                </c:pt>
                <c:pt idx="2">
                  <c:v>3786</c:v>
                </c:pt>
                <c:pt idx="3">
                  <c:v>1217</c:v>
                </c:pt>
                <c:pt idx="4">
                  <c:v>776</c:v>
                </c:pt>
                <c:pt idx="5">
                  <c:v>964</c:v>
                </c:pt>
                <c:pt idx="6">
                  <c:v>828</c:v>
                </c:pt>
                <c:pt idx="7">
                  <c:v>358</c:v>
                </c:pt>
                <c:pt idx="8">
                  <c:v>236</c:v>
                </c:pt>
                <c:pt idx="9">
                  <c:v>221</c:v>
                </c:pt>
                <c:pt idx="10">
                  <c:v>1883</c:v>
                </c:pt>
              </c:numCache>
            </c:numRef>
          </c:val>
          <c:extLst>
            <c:ext xmlns:c16="http://schemas.microsoft.com/office/drawing/2014/chart" uri="{C3380CC4-5D6E-409C-BE32-E72D297353CC}">
              <c16:uniqueId val="{00000000-8D62-457F-A728-60786D760DF6}"/>
            </c:ext>
          </c:extLst>
        </c:ser>
        <c:dLbls>
          <c:dLblPos val="outEnd"/>
          <c:showLegendKey val="0"/>
          <c:showVal val="1"/>
          <c:showCatName val="0"/>
          <c:showSerName val="0"/>
          <c:showPercent val="0"/>
          <c:showBubbleSize val="0"/>
        </c:dLbls>
        <c:gapWidth val="115"/>
        <c:overlap val="-20"/>
        <c:axId val="989975840"/>
        <c:axId val="989990720"/>
      </c:barChart>
      <c:catAx>
        <c:axId val="989975840"/>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9990720"/>
        <c:crosses val="autoZero"/>
        <c:auto val="1"/>
        <c:lblAlgn val="ctr"/>
        <c:lblOffset val="100"/>
        <c:noMultiLvlLbl val="0"/>
      </c:catAx>
      <c:valAx>
        <c:axId val="989990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99758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[NEW PIVOTS AND GRAPHS.xlsx]Sheet1!PivotTable34</c:name>
    <c:fmtId val="4"/>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lumMod val="60000"/>
            </a:schemeClr>
          </a:solidFill>
          <a:ln w="19050">
            <a:solidFill>
              <a:schemeClr val="lt1"/>
            </a:solidFill>
          </a:ln>
          <a:effectLst/>
        </c:spPr>
        <c:dLbl>
          <c:idx val="0"/>
          <c:layout>
            <c:manualLayout>
              <c:x val="5.2441757505060298E-2"/>
              <c:y val="-6.9336983908306147E-3"/>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5731D742-C7B0-493B-9962-713728FDD857}"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
        <c:spPr>
          <a:solidFill>
            <a:schemeClr val="accent6"/>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68D082F9-1DC4-4084-BBF0-FC259A9F9F04}"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3"/>
        <c:spPr>
          <a:solidFill>
            <a:schemeClr val="accent5"/>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7DE23F52-E302-4224-8A93-9BC0EA2BEC52}"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4"/>
        <c:spPr>
          <a:solidFill>
            <a:schemeClr val="accent4"/>
          </a:solidFill>
          <a:ln w="19050">
            <a:solidFill>
              <a:schemeClr val="lt1"/>
            </a:solidFill>
          </a:ln>
          <a:effectLst/>
        </c:spPr>
        <c:dLbl>
          <c:idx val="0"/>
          <c:layout>
            <c:manualLayout>
              <c:x val="-5.6354405326857083E-3"/>
              <c:y val="3.1261675564580427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C25D9C51-37ED-4ABD-B06C-6F44D347E7A0}"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5"/>
        <c:spPr>
          <a:solidFill>
            <a:schemeClr val="accent1"/>
          </a:solidFill>
          <a:ln w="19050">
            <a:solidFill>
              <a:schemeClr val="lt1"/>
            </a:solidFill>
          </a:ln>
          <a:effectLst/>
        </c:spPr>
        <c:dLbl>
          <c:idx val="0"/>
          <c:layout>
            <c:manualLayout>
              <c:x val="-1.4304649205555466E-2"/>
              <c:y val="-4.2202881139397304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36CAF409-26DA-400A-BE9A-D47D3AF6C820}"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6"/>
        <c:spPr>
          <a:solidFill>
            <a:schemeClr val="accent3"/>
          </a:solidFill>
          <a:ln w="19050">
            <a:solidFill>
              <a:schemeClr val="lt1"/>
            </a:solidFill>
          </a:ln>
          <a:effectLst/>
        </c:spPr>
        <c:dLbl>
          <c:idx val="0"/>
          <c:layout>
            <c:manualLayout>
              <c:x val="1.2552699348831051E-2"/>
              <c:y val="-4.1063527404341077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4BB0AA3D-93B3-4D8A-9CEE-0A3166E21B6B}"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7"/>
        <c:spPr>
          <a:solidFill>
            <a:schemeClr val="accent2"/>
          </a:solidFill>
          <a:ln w="19050">
            <a:solidFill>
              <a:schemeClr val="lt1"/>
            </a:solidFill>
          </a:ln>
          <a:effectLst/>
        </c:spPr>
        <c:dLbl>
          <c:idx val="0"/>
          <c:layout>
            <c:manualLayout>
              <c:x val="2.6593290041913895E-2"/>
              <c:y val="-1.5906698500376883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8467BB57-3C18-4A46-BF1E-9684995378D7}"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dLbl>
          <c:idx val="0"/>
          <c:layout>
            <c:manualLayout>
              <c:x val="-1.4304649205555466E-2"/>
              <c:y val="-4.2202881139397304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36CAF409-26DA-400A-BE9A-D47D3AF6C820}"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10"/>
        <c:spPr>
          <a:solidFill>
            <a:schemeClr val="accent1"/>
          </a:solidFill>
          <a:ln w="19050">
            <a:solidFill>
              <a:schemeClr val="lt1"/>
            </a:solidFill>
          </a:ln>
          <a:effectLst/>
        </c:spPr>
        <c:dLbl>
          <c:idx val="0"/>
          <c:layout>
            <c:manualLayout>
              <c:x val="2.6593290041913895E-2"/>
              <c:y val="-1.5906698500376883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8467BB57-3C18-4A46-BF1E-9684995378D7}"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11"/>
        <c:spPr>
          <a:solidFill>
            <a:schemeClr val="accent1"/>
          </a:solidFill>
          <a:ln w="19050">
            <a:solidFill>
              <a:schemeClr val="lt1"/>
            </a:solidFill>
          </a:ln>
          <a:effectLst/>
        </c:spPr>
        <c:dLbl>
          <c:idx val="0"/>
          <c:layout>
            <c:manualLayout>
              <c:x val="1.2552699348831051E-2"/>
              <c:y val="-4.1063527404341077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4BB0AA3D-93B3-4D8A-9CEE-0A3166E21B6B}"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12"/>
        <c:spPr>
          <a:solidFill>
            <a:schemeClr val="accent1"/>
          </a:solidFill>
          <a:ln w="19050">
            <a:solidFill>
              <a:schemeClr val="lt1"/>
            </a:solidFill>
          </a:ln>
          <a:effectLst/>
        </c:spPr>
        <c:dLbl>
          <c:idx val="0"/>
          <c:layout>
            <c:manualLayout>
              <c:x val="-5.6354405326857083E-3"/>
              <c:y val="3.1261675564580427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C25D9C51-37ED-4ABD-B06C-6F44D347E7A0}"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13"/>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7DE23F52-E302-4224-8A93-9BC0EA2BEC52}"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14"/>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68D082F9-1DC4-4084-BBF0-FC259A9F9F04}"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15"/>
        <c:spPr>
          <a:solidFill>
            <a:schemeClr val="accent1"/>
          </a:solidFill>
          <a:ln w="19050">
            <a:solidFill>
              <a:schemeClr val="lt1"/>
            </a:solidFill>
          </a:ln>
          <a:effectLst/>
        </c:spPr>
        <c:dLbl>
          <c:idx val="0"/>
          <c:layout>
            <c:manualLayout>
              <c:x val="5.2441757505060298E-2"/>
              <c:y val="-6.9336983908306147E-3"/>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5731D742-C7B0-493B-9962-713728FDD857}"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1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w="19050">
            <a:solidFill>
              <a:schemeClr val="lt1"/>
            </a:solidFill>
          </a:ln>
          <a:effectLst/>
        </c:spPr>
        <c:dLbl>
          <c:idx val="0"/>
          <c:layout>
            <c:manualLayout>
              <c:x val="-1.4304649205555466E-2"/>
              <c:y val="-4.2202881139397304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36CAF409-26DA-400A-BE9A-D47D3AF6C820}"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18"/>
        <c:spPr>
          <a:solidFill>
            <a:schemeClr val="accent1"/>
          </a:solidFill>
          <a:ln w="19050">
            <a:solidFill>
              <a:schemeClr val="lt1"/>
            </a:solidFill>
          </a:ln>
          <a:effectLst/>
        </c:spPr>
        <c:dLbl>
          <c:idx val="0"/>
          <c:layout>
            <c:manualLayout>
              <c:x val="2.6593290041913895E-2"/>
              <c:y val="-1.5906698500376883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8467BB57-3C18-4A46-BF1E-9684995378D7}"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19"/>
        <c:spPr>
          <a:solidFill>
            <a:schemeClr val="accent1"/>
          </a:solidFill>
          <a:ln w="19050">
            <a:solidFill>
              <a:schemeClr val="lt1"/>
            </a:solidFill>
          </a:ln>
          <a:effectLst/>
        </c:spPr>
        <c:dLbl>
          <c:idx val="0"/>
          <c:layout>
            <c:manualLayout>
              <c:x val="1.2552699348831051E-2"/>
              <c:y val="-4.1063527404341077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4BB0AA3D-93B3-4D8A-9CEE-0A3166E21B6B}"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0"/>
        <c:spPr>
          <a:solidFill>
            <a:schemeClr val="accent1"/>
          </a:solidFill>
          <a:ln w="19050">
            <a:solidFill>
              <a:schemeClr val="lt1"/>
            </a:solidFill>
          </a:ln>
          <a:effectLst/>
        </c:spPr>
        <c:dLbl>
          <c:idx val="0"/>
          <c:layout>
            <c:manualLayout>
              <c:x val="-5.6354405326857083E-3"/>
              <c:y val="3.1261675564580427E-2"/>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C25D9C51-37ED-4ABD-B06C-6F44D347E7A0}"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1"/>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7DE23F52-E302-4224-8A93-9BC0EA2BEC52}"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2"/>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68D082F9-1DC4-4084-BBF0-FC259A9F9F04}"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3"/>
        <c:spPr>
          <a:solidFill>
            <a:schemeClr val="accent1"/>
          </a:solidFill>
          <a:ln w="19050">
            <a:solidFill>
              <a:schemeClr val="lt1"/>
            </a:solidFill>
          </a:ln>
          <a:effectLst/>
        </c:spPr>
        <c:dLbl>
          <c:idx val="0"/>
          <c:layout>
            <c:manualLayout>
              <c:x val="5.2441757505060298E-2"/>
              <c:y val="-6.9336983908306147E-3"/>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5731D742-C7B0-493B-9962-713728FDD857}" type="VALUE">
                  <a:rPr lang="en-US" b="1"/>
                  <a:pPr>
                    <a:defRPr sz="900" b="0" i="0" u="none" strike="noStrike" kern="1200" baseline="0">
                      <a:solidFill>
                        <a:schemeClr val="tx1">
                          <a:lumMod val="75000"/>
                          <a:lumOff val="25000"/>
                        </a:schemeClr>
                      </a:solidFill>
                      <a:latin typeface="+mn-lt"/>
                      <a:ea typeface="+mn-ea"/>
                      <a:cs typeface="+mn-cs"/>
                    </a:defRPr>
                  </a:pPr>
                  <a:t>[VALUE]</a:t>
                </a:fld>
                <a:endParaRPr lang="en-ZA"/>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ZA"/>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s>
    <c:plotArea>
      <c:layout/>
      <c:pieChart>
        <c:varyColors val="1"/>
        <c:ser>
          <c:idx val="0"/>
          <c:order val="0"/>
          <c:tx>
            <c:strRef>
              <c:f>Sheet1!$C$21</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DA3-43CD-80B3-80D96190150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DA3-43CD-80B3-80D96190150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DDA3-43CD-80B3-80D96190150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DDA3-43CD-80B3-80D961901506}"/>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DDA3-43CD-80B3-80D961901506}"/>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DDA3-43CD-80B3-80D961901506}"/>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DDA3-43CD-80B3-80D961901506}"/>
              </c:ext>
            </c:extLst>
          </c:dPt>
          <c:dLbls>
            <c:dLbl>
              <c:idx val="0"/>
              <c:layout>
                <c:manualLayout>
                  <c:x val="-1.4304649205555466E-2"/>
                  <c:y val="-4.2202881139397304E-2"/>
                </c:manualLayout>
              </c:layout>
              <c:tx>
                <c:rich>
                  <a:bodyPr/>
                  <a:lstStyle/>
                  <a:p>
                    <a:fld id="{36CAF409-26DA-400A-BE9A-D47D3AF6C820}" type="VALUE">
                      <a:rPr lang="en-US" b="1"/>
                      <a:pPr/>
                      <a:t>[VALUE]</a:t>
                    </a:fld>
                    <a:endParaRPr lang="en-ZA"/>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DDA3-43CD-80B3-80D961901506}"/>
                </c:ext>
              </c:extLst>
            </c:dLbl>
            <c:dLbl>
              <c:idx val="1"/>
              <c:layout>
                <c:manualLayout>
                  <c:x val="2.6593290041913895E-2"/>
                  <c:y val="-1.5906698500376883E-2"/>
                </c:manualLayout>
              </c:layout>
              <c:tx>
                <c:rich>
                  <a:bodyPr/>
                  <a:lstStyle/>
                  <a:p>
                    <a:fld id="{8467BB57-3C18-4A46-BF1E-9684995378D7}" type="VALUE">
                      <a:rPr lang="en-US" b="1"/>
                      <a:pPr/>
                      <a:t>[VALUE]</a:t>
                    </a:fld>
                    <a:endParaRPr lang="en-ZA"/>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DA3-43CD-80B3-80D961901506}"/>
                </c:ext>
              </c:extLst>
            </c:dLbl>
            <c:dLbl>
              <c:idx val="2"/>
              <c:layout>
                <c:manualLayout>
                  <c:x val="1.2552699348831051E-2"/>
                  <c:y val="-4.1063527404341077E-2"/>
                </c:manualLayout>
              </c:layout>
              <c:tx>
                <c:rich>
                  <a:bodyPr/>
                  <a:lstStyle/>
                  <a:p>
                    <a:fld id="{4BB0AA3D-93B3-4D8A-9CEE-0A3166E21B6B}" type="VALUE">
                      <a:rPr lang="en-US" b="1"/>
                      <a:pPr/>
                      <a:t>[VALUE]</a:t>
                    </a:fld>
                    <a:endParaRPr lang="en-ZA"/>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DDA3-43CD-80B3-80D961901506}"/>
                </c:ext>
              </c:extLst>
            </c:dLbl>
            <c:dLbl>
              <c:idx val="3"/>
              <c:layout>
                <c:manualLayout>
                  <c:x val="-5.6354405326857083E-3"/>
                  <c:y val="3.1261675564580427E-2"/>
                </c:manualLayout>
              </c:layout>
              <c:tx>
                <c:rich>
                  <a:bodyPr/>
                  <a:lstStyle/>
                  <a:p>
                    <a:fld id="{C25D9C51-37ED-4ABD-B06C-6F44D347E7A0}" type="VALUE">
                      <a:rPr lang="en-US" b="1"/>
                      <a:pPr/>
                      <a:t>[VALUE]</a:t>
                    </a:fld>
                    <a:endParaRPr lang="en-ZA"/>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DDA3-43CD-80B3-80D961901506}"/>
                </c:ext>
              </c:extLst>
            </c:dLbl>
            <c:dLbl>
              <c:idx val="4"/>
              <c:tx>
                <c:rich>
                  <a:bodyPr/>
                  <a:lstStyle/>
                  <a:p>
                    <a:fld id="{7DE23F52-E302-4224-8A93-9BC0EA2BEC52}" type="VALUE">
                      <a:rPr lang="en-US" b="1"/>
                      <a:pPr/>
                      <a:t>[VALUE]</a:t>
                    </a:fld>
                    <a:endParaRPr lang="en-ZA"/>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DDA3-43CD-80B3-80D961901506}"/>
                </c:ext>
              </c:extLst>
            </c:dLbl>
            <c:dLbl>
              <c:idx val="5"/>
              <c:tx>
                <c:rich>
                  <a:bodyPr/>
                  <a:lstStyle/>
                  <a:p>
                    <a:fld id="{68D082F9-1DC4-4084-BBF0-FC259A9F9F04}" type="VALUE">
                      <a:rPr lang="en-US" b="1"/>
                      <a:pPr/>
                      <a:t>[VALUE]</a:t>
                    </a:fld>
                    <a:endParaRPr lang="en-ZA"/>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DDA3-43CD-80B3-80D961901506}"/>
                </c:ext>
              </c:extLst>
            </c:dLbl>
            <c:dLbl>
              <c:idx val="6"/>
              <c:layout>
                <c:manualLayout>
                  <c:x val="5.2441757505060298E-2"/>
                  <c:y val="-6.9336983908306147E-3"/>
                </c:manualLayout>
              </c:layout>
              <c:tx>
                <c:rich>
                  <a:bodyPr/>
                  <a:lstStyle/>
                  <a:p>
                    <a:fld id="{5731D742-C7B0-493B-9962-713728FDD857}" type="VALUE">
                      <a:rPr lang="en-US" b="1"/>
                      <a:pPr/>
                      <a:t>[VALUE]</a:t>
                    </a:fld>
                    <a:endParaRPr lang="en-ZA"/>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DDA3-43CD-80B3-80D96190150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Sheet1!$B$22:$B$29</c:f>
              <c:strCache>
                <c:ptCount val="7"/>
                <c:pt idx="0">
                  <c:v>black</c:v>
                </c:pt>
                <c:pt idx="1">
                  <c:v>coloured</c:v>
                </c:pt>
                <c:pt idx="2">
                  <c:v>indian_asian</c:v>
                </c:pt>
                <c:pt idx="3">
                  <c:v>None</c:v>
                </c:pt>
                <c:pt idx="4">
                  <c:v>other</c:v>
                </c:pt>
                <c:pt idx="5">
                  <c:v>Unknown Race</c:v>
                </c:pt>
                <c:pt idx="6">
                  <c:v>white</c:v>
                </c:pt>
              </c:strCache>
            </c:strRef>
          </c:cat>
          <c:val>
            <c:numRef>
              <c:f>Sheet1!$C$22:$C$29</c:f>
              <c:numCache>
                <c:formatCode>General</c:formatCode>
                <c:ptCount val="7"/>
                <c:pt idx="0">
                  <c:v>4516</c:v>
                </c:pt>
                <c:pt idx="1">
                  <c:v>1836</c:v>
                </c:pt>
                <c:pt idx="2">
                  <c:v>1551</c:v>
                </c:pt>
                <c:pt idx="3">
                  <c:v>1674</c:v>
                </c:pt>
                <c:pt idx="4">
                  <c:v>110</c:v>
                </c:pt>
                <c:pt idx="5">
                  <c:v>235</c:v>
                </c:pt>
                <c:pt idx="6">
                  <c:v>1373</c:v>
                </c:pt>
              </c:numCache>
            </c:numRef>
          </c:val>
          <c:extLst>
            <c:ext xmlns:c16="http://schemas.microsoft.com/office/drawing/2014/chart" uri="{C3380CC4-5D6E-409C-BE32-E72D297353CC}">
              <c16:uniqueId val="{0000000E-DDA3-43CD-80B3-80D961901506}"/>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layout>
        <c:manualLayout>
          <c:xMode val="edge"/>
          <c:yMode val="edge"/>
          <c:x val="0.77644469947221184"/>
          <c:y val="0.13048727992192827"/>
          <c:w val="0.19689391951006124"/>
          <c:h val="0.7586843832020998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[NEW PIVOTS AND GRAPHS.xlsx]Sheet1!PivotTable38</c:name>
    <c:fmtId val="9"/>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Sheet1!$C$38</c:f>
              <c:strCache>
                <c:ptCount val="1"/>
                <c:pt idx="0">
                  <c:v>Total</c:v>
                </c:pt>
              </c:strCache>
            </c:strRef>
          </c:tx>
          <c:spPr>
            <a:solidFill>
              <a:schemeClr val="accent1"/>
            </a:solidFill>
            <a:ln>
              <a:noFill/>
            </a:ln>
            <a:effectLst/>
          </c:spPr>
          <c:invertIfNegative val="0"/>
          <c:dLbls>
            <c:dLbl>
              <c:idx val="0"/>
              <c:layout>
                <c:manualLayout>
                  <c:x val="0"/>
                  <c:y val="-7.809847198641765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E34-4C36-96FD-BE47119D479A}"/>
                </c:ext>
              </c:extLst>
            </c:dLbl>
            <c:dLbl>
              <c:idx val="1"/>
              <c:layout>
                <c:manualLayout>
                  <c:x val="0"/>
                  <c:y val="-0.43463497453310695"/>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E34-4C36-96FD-BE47119D479A}"/>
                </c:ext>
              </c:extLst>
            </c:dLbl>
            <c:dLbl>
              <c:idx val="2"/>
              <c:layout>
                <c:manualLayout>
                  <c:x val="-8.7928640515821532E-17"/>
                  <c:y val="-6.451612903225806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E34-4C36-96FD-BE47119D479A}"/>
                </c:ext>
              </c:extLst>
            </c:dLbl>
            <c:dLbl>
              <c:idx val="3"/>
              <c:layout>
                <c:manualLayout>
                  <c:x val="-2.3980815347723582E-3"/>
                  <c:y val="-3.735144312393900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E34-4C36-96FD-BE47119D479A}"/>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Sheet1!$B$39:$B$43</c:f>
              <c:strCache>
                <c:ptCount val="4"/>
                <c:pt idx="0">
                  <c:v>female</c:v>
                </c:pt>
                <c:pt idx="1">
                  <c:v>male</c:v>
                </c:pt>
                <c:pt idx="2">
                  <c:v>Other_gender</c:v>
                </c:pt>
                <c:pt idx="3">
                  <c:v>Unknown Gender</c:v>
                </c:pt>
              </c:strCache>
            </c:strRef>
          </c:cat>
          <c:val>
            <c:numRef>
              <c:f>Sheet1!$C$39:$C$43</c:f>
              <c:numCache>
                <c:formatCode>General</c:formatCode>
                <c:ptCount val="4"/>
                <c:pt idx="0">
                  <c:v>1056</c:v>
                </c:pt>
                <c:pt idx="1">
                  <c:v>9190</c:v>
                </c:pt>
                <c:pt idx="2">
                  <c:v>828</c:v>
                </c:pt>
                <c:pt idx="3">
                  <c:v>221</c:v>
                </c:pt>
              </c:numCache>
            </c:numRef>
          </c:val>
          <c:extLst>
            <c:ext xmlns:c16="http://schemas.microsoft.com/office/drawing/2014/chart" uri="{C3380CC4-5D6E-409C-BE32-E72D297353CC}">
              <c16:uniqueId val="{00000000-6E34-4C36-96FD-BE47119D479A}"/>
            </c:ext>
          </c:extLst>
        </c:ser>
        <c:dLbls>
          <c:showLegendKey val="0"/>
          <c:showVal val="0"/>
          <c:showCatName val="0"/>
          <c:showSerName val="0"/>
          <c:showPercent val="0"/>
          <c:showBubbleSize val="0"/>
        </c:dLbls>
        <c:gapWidth val="150"/>
        <c:overlap val="100"/>
        <c:axId val="989949920"/>
        <c:axId val="989950400"/>
      </c:barChart>
      <c:catAx>
        <c:axId val="989949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9950400"/>
        <c:crosses val="autoZero"/>
        <c:auto val="1"/>
        <c:lblAlgn val="ctr"/>
        <c:lblOffset val="100"/>
        <c:noMultiLvlLbl val="0"/>
      </c:catAx>
      <c:valAx>
        <c:axId val="98995040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99499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Viewers_per_age_group</c:v>
                </c:pt>
              </c:strCache>
            </c:strRef>
          </c:tx>
          <c:spPr>
            <a:ln w="38100" cap="flat" cmpd="dbl" algn="ctr">
              <a:solidFill>
                <a:schemeClr val="accent1"/>
              </a:solidFill>
              <a:miter lim="800000"/>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trendline>
            <c:spPr>
              <a:ln w="12700" cap="rnd">
                <a:noFill/>
              </a:ln>
              <a:effectLst/>
            </c:spPr>
            <c:trendlineType val="linear"/>
            <c:dispRSqr val="0"/>
            <c:dispEq val="0"/>
          </c:trendline>
          <c:cat>
            <c:strRef>
              <c:f>Sheet1!$A$2:$A$8</c:f>
              <c:strCache>
                <c:ptCount val="7"/>
                <c:pt idx="0">
                  <c:v>Adult (31 to 50)</c:v>
                </c:pt>
                <c:pt idx="1">
                  <c:v>Young Adult (18 to 30)</c:v>
                </c:pt>
                <c:pt idx="2">
                  <c:v>Middle Aged (51 to 65)</c:v>
                </c:pt>
                <c:pt idx="3">
                  <c:v>Non applicable</c:v>
                </c:pt>
                <c:pt idx="4">
                  <c:v>Teenager (13 to 17)</c:v>
                </c:pt>
                <c:pt idx="5">
                  <c:v>Child (1 to 12)</c:v>
                </c:pt>
                <c:pt idx="6">
                  <c:v>Seniors (greater than 65)</c:v>
                </c:pt>
              </c:strCache>
            </c:strRef>
          </c:cat>
          <c:val>
            <c:numRef>
              <c:f>Sheet1!$B$2:$B$8</c:f>
              <c:numCache>
                <c:formatCode>General</c:formatCode>
                <c:ptCount val="7"/>
                <c:pt idx="0">
                  <c:v>4991</c:v>
                </c:pt>
                <c:pt idx="1">
                  <c:v>3933</c:v>
                </c:pt>
                <c:pt idx="2">
                  <c:v>442</c:v>
                </c:pt>
                <c:pt idx="3">
                  <c:v>305</c:v>
                </c:pt>
                <c:pt idx="4">
                  <c:v>181</c:v>
                </c:pt>
                <c:pt idx="5">
                  <c:v>100</c:v>
                </c:pt>
                <c:pt idx="6">
                  <c:v>48</c:v>
                </c:pt>
              </c:numCache>
            </c:numRef>
          </c:val>
          <c:smooth val="0"/>
          <c:extLst>
            <c:ext xmlns:c16="http://schemas.microsoft.com/office/drawing/2014/chart" uri="{C3380CC4-5D6E-409C-BE32-E72D297353CC}">
              <c16:uniqueId val="{00000000-1CA9-4CF8-A3B6-CF8B2DE4FD9C}"/>
            </c:ext>
          </c:extLst>
        </c:ser>
        <c:dLbls>
          <c:dLblPos val="t"/>
          <c:showLegendKey val="0"/>
          <c:showVal val="1"/>
          <c:showCatName val="0"/>
          <c:showSerName val="0"/>
          <c:showPercent val="0"/>
          <c:showBubbleSize val="0"/>
        </c:dLbls>
        <c:smooth val="0"/>
        <c:axId val="1792203311"/>
        <c:axId val="1792209071"/>
        <c:extLst>
          <c:ext xmlns:c15="http://schemas.microsoft.com/office/drawing/2012/chart" uri="{02D57815-91ED-43cb-92C2-25804820EDAC}">
            <c15:filteredLineSeries>
              <c15:ser>
                <c:idx val="1"/>
                <c:order val="1"/>
                <c:tx>
                  <c:strRef>
                    <c:extLst>
                      <c:ext uri="{02D57815-91ED-43cb-92C2-25804820EDAC}">
                        <c15:formulaRef>
                          <c15:sqref>Sheet1!$C$1</c15:sqref>
                        </c15:formulaRef>
                      </c:ext>
                    </c:extLst>
                    <c:strCache>
                      <c:ptCount val="1"/>
                      <c:pt idx="0">
                        <c:v>Series 2</c:v>
                      </c:pt>
                    </c:strCache>
                  </c:strRef>
                </c:tx>
                <c:spPr>
                  <a:ln w="38100" cap="flat" cmpd="dbl" algn="ctr">
                    <a:solidFill>
                      <a:schemeClr val="accent2"/>
                    </a:solidFill>
                    <a:miter lim="800000"/>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uri="{CE6537A1-D6FC-4f65-9D91-7224C49458BB}">
                      <c15:showLeaderLines val="1"/>
                      <c15:leaderLines>
                        <c:spPr>
                          <a:ln w="9525">
                            <a:solidFill>
                              <a:schemeClr val="tx1">
                                <a:lumMod val="35000"/>
                                <a:lumOff val="65000"/>
                              </a:schemeClr>
                            </a:solidFill>
                          </a:ln>
                          <a:effectLst/>
                        </c:spPr>
                      </c15:leaderLines>
                    </c:ext>
                  </c:extLst>
                </c:dLbls>
                <c:cat>
                  <c:strRef>
                    <c:extLst>
                      <c:ext uri="{02D57815-91ED-43cb-92C2-25804820EDAC}">
                        <c15:formulaRef>
                          <c15:sqref>Sheet1!$A$2:$A$8</c15:sqref>
                        </c15:formulaRef>
                      </c:ext>
                    </c:extLst>
                    <c:strCache>
                      <c:ptCount val="7"/>
                      <c:pt idx="0">
                        <c:v>Adult (31 to 50)</c:v>
                      </c:pt>
                      <c:pt idx="1">
                        <c:v>Young Adult (18 to 30)</c:v>
                      </c:pt>
                      <c:pt idx="2">
                        <c:v>Middle Aged (51 to 65)</c:v>
                      </c:pt>
                      <c:pt idx="3">
                        <c:v>Non applicable</c:v>
                      </c:pt>
                      <c:pt idx="4">
                        <c:v>Teenager (13 to 17)</c:v>
                      </c:pt>
                      <c:pt idx="5">
                        <c:v>Child (1 to 12)</c:v>
                      </c:pt>
                      <c:pt idx="6">
                        <c:v>Seniors (greater than 65)</c:v>
                      </c:pt>
                    </c:strCache>
                  </c:strRef>
                </c:cat>
                <c:val>
                  <c:numRef>
                    <c:extLst>
                      <c:ext uri="{02D57815-91ED-43cb-92C2-25804820EDAC}">
                        <c15:formulaRef>
                          <c15:sqref>Sheet1!$C$2:$C$8</c15:sqref>
                        </c15:formulaRef>
                      </c:ext>
                    </c:extLst>
                    <c:numCache>
                      <c:formatCode>General</c:formatCode>
                      <c:ptCount val="7"/>
                      <c:pt idx="0">
                        <c:v>2.4</c:v>
                      </c:pt>
                      <c:pt idx="1">
                        <c:v>4.4000000000000004</c:v>
                      </c:pt>
                      <c:pt idx="2">
                        <c:v>1.8</c:v>
                      </c:pt>
                      <c:pt idx="3">
                        <c:v>2.8</c:v>
                      </c:pt>
                    </c:numCache>
                  </c:numRef>
                </c:val>
                <c:smooth val="0"/>
                <c:extLst>
                  <c:ext xmlns:c16="http://schemas.microsoft.com/office/drawing/2014/chart" uri="{C3380CC4-5D6E-409C-BE32-E72D297353CC}">
                    <c16:uniqueId val="{00000001-1CA9-4CF8-A3B6-CF8B2DE4FD9C}"/>
                  </c:ext>
                </c:extLst>
              </c15:ser>
            </c15:filteredLineSeries>
            <c15:filteredLine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Series 3</c:v>
                      </c:pt>
                    </c:strCache>
                  </c:strRef>
                </c:tx>
                <c:spPr>
                  <a:ln w="38100" cap="flat" cmpd="dbl" algn="ctr">
                    <a:solidFill>
                      <a:schemeClr val="accent3"/>
                    </a:solidFill>
                    <a:miter lim="800000"/>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extLst xmlns:c15="http://schemas.microsoft.com/office/drawing/2012/chart">
                      <c:ext xmlns:c15="http://schemas.microsoft.com/office/drawing/2012/chart" uri="{02D57815-91ED-43cb-92C2-25804820EDAC}">
                        <c15:formulaRef>
                          <c15:sqref>Sheet1!$A$2:$A$8</c15:sqref>
                        </c15:formulaRef>
                      </c:ext>
                    </c:extLst>
                    <c:strCache>
                      <c:ptCount val="7"/>
                      <c:pt idx="0">
                        <c:v>Adult (31 to 50)</c:v>
                      </c:pt>
                      <c:pt idx="1">
                        <c:v>Young Adult (18 to 30)</c:v>
                      </c:pt>
                      <c:pt idx="2">
                        <c:v>Middle Aged (51 to 65)</c:v>
                      </c:pt>
                      <c:pt idx="3">
                        <c:v>Non applicable</c:v>
                      </c:pt>
                      <c:pt idx="4">
                        <c:v>Teenager (13 to 17)</c:v>
                      </c:pt>
                      <c:pt idx="5">
                        <c:v>Child (1 to 12)</c:v>
                      </c:pt>
                      <c:pt idx="6">
                        <c:v>Seniors (greater than 65)</c:v>
                      </c:pt>
                    </c:strCache>
                  </c:strRef>
                </c:cat>
                <c:val>
                  <c:numRef>
                    <c:extLst xmlns:c15="http://schemas.microsoft.com/office/drawing/2012/chart">
                      <c:ext xmlns:c15="http://schemas.microsoft.com/office/drawing/2012/chart" uri="{02D57815-91ED-43cb-92C2-25804820EDAC}">
                        <c15:formulaRef>
                          <c15:sqref>Sheet1!$D$2:$D$8</c15:sqref>
                        </c15:formulaRef>
                      </c:ext>
                    </c:extLst>
                    <c:numCache>
                      <c:formatCode>General</c:formatCode>
                      <c:ptCount val="7"/>
                      <c:pt idx="0">
                        <c:v>2</c:v>
                      </c:pt>
                      <c:pt idx="1">
                        <c:v>2</c:v>
                      </c:pt>
                      <c:pt idx="2">
                        <c:v>3</c:v>
                      </c:pt>
                      <c:pt idx="3">
                        <c:v>5</c:v>
                      </c:pt>
                    </c:numCache>
                  </c:numRef>
                </c:val>
                <c:smooth val="0"/>
                <c:extLst xmlns:c15="http://schemas.microsoft.com/office/drawing/2012/chart">
                  <c:ext xmlns:c16="http://schemas.microsoft.com/office/drawing/2014/chart" uri="{C3380CC4-5D6E-409C-BE32-E72D297353CC}">
                    <c16:uniqueId val="{00000002-1CA9-4CF8-A3B6-CF8B2DE4FD9C}"/>
                  </c:ext>
                </c:extLst>
              </c15:ser>
            </c15:filteredLineSeries>
          </c:ext>
        </c:extLst>
      </c:lineChart>
      <c:catAx>
        <c:axId val="1792203311"/>
        <c:scaling>
          <c:orientation val="minMax"/>
        </c:scaling>
        <c:delete val="0"/>
        <c:axPos val="b"/>
        <c:majorGridlines>
          <c:spPr>
            <a:ln w="9525" cap="flat" cmpd="sng" algn="ctr">
              <a:solidFill>
                <a:schemeClr val="tx1">
                  <a:lumMod val="15000"/>
                  <a:lumOff val="85000"/>
                  <a:alpha val="32000"/>
                </a:schemeClr>
              </a:solidFill>
              <a:round/>
            </a:ln>
            <a:effectLst/>
          </c:spPr>
        </c:majorGridlines>
        <c:numFmt formatCode="General"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92209071"/>
        <c:crosses val="autoZero"/>
        <c:auto val="1"/>
        <c:lblAlgn val="ctr"/>
        <c:lblOffset val="100"/>
        <c:noMultiLvlLbl val="0"/>
      </c:catAx>
      <c:valAx>
        <c:axId val="1792209071"/>
        <c:scaling>
          <c:orientation val="minMax"/>
        </c:scaling>
        <c:delete val="0"/>
        <c:axPos val="l"/>
        <c:majorGridlines>
          <c:spPr>
            <a:ln w="9525" cap="flat" cmpd="sng" algn="ctr">
              <a:solidFill>
                <a:schemeClr val="tx1">
                  <a:lumMod val="15000"/>
                  <a:lumOff val="85000"/>
                  <a:alpha val="32000"/>
                </a:schemeClr>
              </a:solidFill>
              <a:round/>
            </a:ln>
            <a:effectLst/>
          </c:spPr>
        </c:majorGridlines>
        <c:numFmt formatCode="General"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9220331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Number_of_Views_per_month</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Sheet1!$A$2:$A$5</c:f>
              <c:strCache>
                <c:ptCount val="4"/>
                <c:pt idx="0">
                  <c:v>Mar</c:v>
                </c:pt>
                <c:pt idx="1">
                  <c:v>Apr</c:v>
                </c:pt>
                <c:pt idx="2">
                  <c:v>Jan</c:v>
                </c:pt>
                <c:pt idx="3">
                  <c:v>Feb</c:v>
                </c:pt>
              </c:strCache>
            </c:strRef>
          </c:cat>
          <c:val>
            <c:numRef>
              <c:f>Sheet1!$B$2:$B$5</c:f>
              <c:numCache>
                <c:formatCode>General</c:formatCode>
                <c:ptCount val="4"/>
                <c:pt idx="0">
                  <c:v>4816</c:v>
                </c:pt>
                <c:pt idx="1">
                  <c:v>5</c:v>
                </c:pt>
                <c:pt idx="2">
                  <c:v>2199</c:v>
                </c:pt>
                <c:pt idx="3">
                  <c:v>2980</c:v>
                </c:pt>
              </c:numCache>
            </c:numRef>
          </c:val>
          <c:extLst>
            <c:ext xmlns:c16="http://schemas.microsoft.com/office/drawing/2014/chart" uri="{C3380CC4-5D6E-409C-BE32-E72D297353CC}">
              <c16:uniqueId val="{00000000-275F-4028-80BE-6C691BE7BA66}"/>
            </c:ext>
          </c:extLst>
        </c:ser>
        <c:dLbls>
          <c:dLblPos val="outEnd"/>
          <c:showLegendKey val="0"/>
          <c:showVal val="1"/>
          <c:showCatName val="0"/>
          <c:showSerName val="0"/>
          <c:showPercent val="0"/>
          <c:showBubbleSize val="0"/>
        </c:dLbls>
        <c:gapWidth val="100"/>
        <c:axId val="1155310895"/>
        <c:axId val="1155314255"/>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Series 2</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uri="{CE6537A1-D6FC-4f65-9D91-7224C49458BB}">
                      <c15:showLeaderLines val="1"/>
                      <c15:leaderLines>
                        <c:spPr>
                          <a:ln w="9525">
                            <a:solidFill>
                              <a:schemeClr val="tx2">
                                <a:lumMod val="35000"/>
                                <a:lumOff val="65000"/>
                              </a:schemeClr>
                            </a:solidFill>
                          </a:ln>
                          <a:effectLst/>
                        </c:spPr>
                      </c15:leaderLines>
                    </c:ext>
                  </c:extLst>
                </c:dLbls>
                <c:cat>
                  <c:strRef>
                    <c:extLst>
                      <c:ext uri="{02D57815-91ED-43cb-92C2-25804820EDAC}">
                        <c15:formulaRef>
                          <c15:sqref>Sheet1!$A$2:$A$5</c15:sqref>
                        </c15:formulaRef>
                      </c:ext>
                    </c:extLst>
                    <c:strCache>
                      <c:ptCount val="4"/>
                      <c:pt idx="0">
                        <c:v>Mar</c:v>
                      </c:pt>
                      <c:pt idx="1">
                        <c:v>Apr</c:v>
                      </c:pt>
                      <c:pt idx="2">
                        <c:v>Jan</c:v>
                      </c:pt>
                      <c:pt idx="3">
                        <c:v>Feb</c:v>
                      </c:pt>
                    </c:strCache>
                  </c:strRef>
                </c:cat>
                <c:val>
                  <c:numRef>
                    <c:extLst>
                      <c:ext uri="{02D57815-91ED-43cb-92C2-25804820EDAC}">
                        <c15:formulaRef>
                          <c15:sqref>Sheet1!$C$2:$C$5</c15:sqref>
                        </c15:formulaRef>
                      </c:ext>
                    </c:extLst>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75F-4028-80BE-6C691BE7BA66}"/>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Series 3</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extLst xmlns:c15="http://schemas.microsoft.com/office/drawing/2012/chart">
                      <c:ext xmlns:c15="http://schemas.microsoft.com/office/drawing/2012/chart" uri="{02D57815-91ED-43cb-92C2-25804820EDAC}">
                        <c15:formulaRef>
                          <c15:sqref>Sheet1!$A$2:$A$5</c15:sqref>
                        </c15:formulaRef>
                      </c:ext>
                    </c:extLst>
                    <c:strCache>
                      <c:ptCount val="4"/>
                      <c:pt idx="0">
                        <c:v>Mar</c:v>
                      </c:pt>
                      <c:pt idx="1">
                        <c:v>Apr</c:v>
                      </c:pt>
                      <c:pt idx="2">
                        <c:v>Jan</c:v>
                      </c:pt>
                      <c:pt idx="3">
                        <c:v>Feb</c:v>
                      </c:pt>
                    </c:strCache>
                  </c:strRef>
                </c:cat>
                <c:val>
                  <c:numRef>
                    <c:extLst xmlns:c15="http://schemas.microsoft.com/office/drawing/2012/chart">
                      <c:ext xmlns:c15="http://schemas.microsoft.com/office/drawing/2012/chart" uri="{02D57815-91ED-43cb-92C2-25804820EDAC}">
                        <c15:formulaRef>
                          <c15:sqref>Sheet1!$D$2:$D$5</c15:sqref>
                        </c15:formulaRef>
                      </c:ext>
                    </c:extLst>
                    <c:numCache>
                      <c:formatCode>General</c:formatCode>
                      <c:ptCount val="4"/>
                      <c:pt idx="0">
                        <c:v>2</c:v>
                      </c:pt>
                      <c:pt idx="1">
                        <c:v>2</c:v>
                      </c:pt>
                      <c:pt idx="2">
                        <c:v>3</c:v>
                      </c:pt>
                      <c:pt idx="3">
                        <c:v>5</c:v>
                      </c:pt>
                    </c:numCache>
                  </c:numRef>
                </c:val>
                <c:extLst xmlns:c15="http://schemas.microsoft.com/office/drawing/2012/chart">
                  <c:ext xmlns:c16="http://schemas.microsoft.com/office/drawing/2014/chart" uri="{C3380CC4-5D6E-409C-BE32-E72D297353CC}">
                    <c16:uniqueId val="{00000002-275F-4028-80BE-6C691BE7BA66}"/>
                  </c:ext>
                </c:extLst>
              </c15:ser>
            </c15:filteredBarSeries>
          </c:ext>
        </c:extLst>
      </c:barChart>
      <c:catAx>
        <c:axId val="1155310895"/>
        <c:scaling>
          <c:orientation val="minMax"/>
        </c:scaling>
        <c:delete val="0"/>
        <c:axPos val="l"/>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155314255"/>
        <c:crosses val="autoZero"/>
        <c:auto val="1"/>
        <c:lblAlgn val="ctr"/>
        <c:lblOffset val="100"/>
        <c:noMultiLvlLbl val="0"/>
      </c:catAx>
      <c:valAx>
        <c:axId val="1155314255"/>
        <c:scaling>
          <c:orientation val="minMax"/>
        </c:scaling>
        <c:delete val="0"/>
        <c:axPos val="b"/>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1553108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Viewers_per_time_bucket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Afternoon</c:v>
                </c:pt>
                <c:pt idx="1">
                  <c:v>Evening</c:v>
                </c:pt>
                <c:pt idx="2">
                  <c:v>Morning</c:v>
                </c:pt>
                <c:pt idx="3">
                  <c:v>Midnight</c:v>
                </c:pt>
                <c:pt idx="4">
                  <c:v>Late Night</c:v>
                </c:pt>
              </c:strCache>
            </c:strRef>
          </c:cat>
          <c:val>
            <c:numRef>
              <c:f>Sheet1!$B$2:$B$6</c:f>
              <c:numCache>
                <c:formatCode>General</c:formatCode>
                <c:ptCount val="5"/>
                <c:pt idx="0">
                  <c:v>3734</c:v>
                </c:pt>
                <c:pt idx="1">
                  <c:v>3344</c:v>
                </c:pt>
                <c:pt idx="2">
                  <c:v>2361</c:v>
                </c:pt>
                <c:pt idx="3">
                  <c:v>1295</c:v>
                </c:pt>
                <c:pt idx="4">
                  <c:v>561</c:v>
                </c:pt>
              </c:numCache>
            </c:numRef>
          </c:val>
          <c:extLst>
            <c:ext xmlns:c16="http://schemas.microsoft.com/office/drawing/2014/chart" uri="{C3380CC4-5D6E-409C-BE32-E72D297353CC}">
              <c16:uniqueId val="{00000000-BB38-4D52-BECB-A296FFAC856D}"/>
            </c:ext>
          </c:extLst>
        </c:ser>
        <c:dLbls>
          <c:dLblPos val="outEnd"/>
          <c:showLegendKey val="0"/>
          <c:showVal val="1"/>
          <c:showCatName val="0"/>
          <c:showSerName val="0"/>
          <c:showPercent val="0"/>
          <c:showBubbleSize val="0"/>
        </c:dLbls>
        <c:gapWidth val="219"/>
        <c:overlap val="-27"/>
        <c:axId val="1792266191"/>
        <c:axId val="1792262831"/>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Sheet1!$A$2:$A$6</c15:sqref>
                        </c15:formulaRef>
                      </c:ext>
                    </c:extLst>
                    <c:strCache>
                      <c:ptCount val="5"/>
                      <c:pt idx="0">
                        <c:v>Afternoon</c:v>
                      </c:pt>
                      <c:pt idx="1">
                        <c:v>Evening</c:v>
                      </c:pt>
                      <c:pt idx="2">
                        <c:v>Morning</c:v>
                      </c:pt>
                      <c:pt idx="3">
                        <c:v>Midnight</c:v>
                      </c:pt>
                      <c:pt idx="4">
                        <c:v>Late Night</c:v>
                      </c:pt>
                    </c:strCache>
                  </c:strRef>
                </c:cat>
                <c:val>
                  <c:numRef>
                    <c:extLst>
                      <c:ext uri="{02D57815-91ED-43cb-92C2-25804820EDAC}">
                        <c15:formulaRef>
                          <c15:sqref>Sheet1!$C$2:$C$6</c15:sqref>
                        </c15:formulaRef>
                      </c:ext>
                    </c:extLst>
                    <c:numCache>
                      <c:formatCode>General</c:formatCode>
                      <c:ptCount val="5"/>
                      <c:pt idx="0">
                        <c:v>2.4</c:v>
                      </c:pt>
                      <c:pt idx="1">
                        <c:v>4.4000000000000004</c:v>
                      </c:pt>
                      <c:pt idx="2">
                        <c:v>1.8</c:v>
                      </c:pt>
                      <c:pt idx="3">
                        <c:v>2.8</c:v>
                      </c:pt>
                    </c:numCache>
                  </c:numRef>
                </c:val>
                <c:extLst>
                  <c:ext xmlns:c16="http://schemas.microsoft.com/office/drawing/2014/chart" uri="{C3380CC4-5D6E-409C-BE32-E72D297353CC}">
                    <c16:uniqueId val="{00000001-BB38-4D52-BECB-A296FFAC856D}"/>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Sheet1!$A$2:$A$6</c15:sqref>
                        </c15:formulaRef>
                      </c:ext>
                    </c:extLst>
                    <c:strCache>
                      <c:ptCount val="5"/>
                      <c:pt idx="0">
                        <c:v>Afternoon</c:v>
                      </c:pt>
                      <c:pt idx="1">
                        <c:v>Evening</c:v>
                      </c:pt>
                      <c:pt idx="2">
                        <c:v>Morning</c:v>
                      </c:pt>
                      <c:pt idx="3">
                        <c:v>Midnight</c:v>
                      </c:pt>
                      <c:pt idx="4">
                        <c:v>Late Night</c:v>
                      </c:pt>
                    </c:strCache>
                  </c:strRef>
                </c:cat>
                <c:val>
                  <c:numRef>
                    <c:extLst xmlns:c15="http://schemas.microsoft.com/office/drawing/2012/chart">
                      <c:ext xmlns:c15="http://schemas.microsoft.com/office/drawing/2012/chart" uri="{02D57815-91ED-43cb-92C2-25804820EDAC}">
                        <c15:formulaRef>
                          <c15:sqref>Sheet1!$D$2:$D$6</c15:sqref>
                        </c15:formulaRef>
                      </c:ext>
                    </c:extLst>
                    <c:numCache>
                      <c:formatCode>General</c:formatCode>
                      <c:ptCount val="5"/>
                      <c:pt idx="0">
                        <c:v>2</c:v>
                      </c:pt>
                      <c:pt idx="1">
                        <c:v>2</c:v>
                      </c:pt>
                      <c:pt idx="2">
                        <c:v>3</c:v>
                      </c:pt>
                      <c:pt idx="3">
                        <c:v>5</c:v>
                      </c:pt>
                    </c:numCache>
                  </c:numRef>
                </c:val>
                <c:extLst xmlns:c15="http://schemas.microsoft.com/office/drawing/2012/chart">
                  <c:ext xmlns:c16="http://schemas.microsoft.com/office/drawing/2014/chart" uri="{C3380CC4-5D6E-409C-BE32-E72D297353CC}">
                    <c16:uniqueId val="{00000002-BB38-4D52-BECB-A296FFAC856D}"/>
                  </c:ext>
                </c:extLst>
              </c15:ser>
            </c15:filteredBarSeries>
          </c:ext>
        </c:extLst>
      </c:barChart>
      <c:catAx>
        <c:axId val="17922661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92262831"/>
        <c:crosses val="autoZero"/>
        <c:auto val="1"/>
        <c:lblAlgn val="ctr"/>
        <c:lblOffset val="100"/>
        <c:noMultiLvlLbl val="0"/>
      </c:catAx>
      <c:valAx>
        <c:axId val="17922628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9226619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8.5520115767093549E-2"/>
          <c:y val="2.0662519637931889E-2"/>
          <c:w val="0.89753355184322359"/>
          <c:h val="0.60742743681120026"/>
        </c:manualLayout>
      </c:layout>
      <c:bar3DChart>
        <c:barDir val="col"/>
        <c:grouping val="clustered"/>
        <c:varyColors val="0"/>
        <c:ser>
          <c:idx val="0"/>
          <c:order val="0"/>
          <c:tx>
            <c:strRef>
              <c:f>Sheet1!$B$1</c:f>
              <c:strCache>
                <c:ptCount val="1"/>
                <c:pt idx="0">
                  <c:v>viewership_per_channel</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Sheet1!$A$2:$A$23</c:f>
              <c:strCache>
                <c:ptCount val="22"/>
                <c:pt idx="0">
                  <c:v>Supersport Live Events</c:v>
                </c:pt>
                <c:pt idx="1">
                  <c:v>ICC Cricket World Cup 2011</c:v>
                </c:pt>
                <c:pt idx="2">
                  <c:v>Unknown_channel</c:v>
                </c:pt>
                <c:pt idx="3">
                  <c:v>Channel O</c:v>
                </c:pt>
                <c:pt idx="4">
                  <c:v>Trace TV</c:v>
                </c:pt>
                <c:pt idx="5">
                  <c:v>SuperSport Blitz</c:v>
                </c:pt>
                <c:pt idx="6">
                  <c:v>Africa Magic</c:v>
                </c:pt>
                <c:pt idx="7">
                  <c:v>Cartoon Network</c:v>
                </c:pt>
                <c:pt idx="8">
                  <c:v>Boomerang</c:v>
                </c:pt>
                <c:pt idx="9">
                  <c:v>CNN</c:v>
                </c:pt>
                <c:pt idx="10">
                  <c:v>E! Entertainment</c:v>
                </c:pt>
                <c:pt idx="11">
                  <c:v>SawSee</c:v>
                </c:pt>
                <c:pt idx="12">
                  <c:v>M-Net</c:v>
                </c:pt>
                <c:pt idx="13">
                  <c:v>Vuzu</c:v>
                </c:pt>
                <c:pt idx="14">
                  <c:v>DStv Events 1</c:v>
                </c:pt>
                <c:pt idx="15">
                  <c:v>Break in transmission</c:v>
                </c:pt>
                <c:pt idx="16">
                  <c:v>kykNET</c:v>
                </c:pt>
                <c:pt idx="17">
                  <c:v>MK</c:v>
                </c:pt>
                <c:pt idx="18">
                  <c:v>SuperSport Live Events</c:v>
                </c:pt>
                <c:pt idx="19">
                  <c:v>Sawsee</c:v>
                </c:pt>
                <c:pt idx="20">
                  <c:v>Wimbledon</c:v>
                </c:pt>
                <c:pt idx="21">
                  <c:v>Live on SuperSport</c:v>
                </c:pt>
              </c:strCache>
            </c:strRef>
          </c:cat>
          <c:val>
            <c:numRef>
              <c:f>Sheet1!$B$2:$B$23</c:f>
              <c:numCache>
                <c:formatCode>General</c:formatCode>
                <c:ptCount val="22"/>
                <c:pt idx="0">
                  <c:v>1638</c:v>
                </c:pt>
                <c:pt idx="1">
                  <c:v>1465</c:v>
                </c:pt>
                <c:pt idx="2">
                  <c:v>1295</c:v>
                </c:pt>
                <c:pt idx="3">
                  <c:v>1050</c:v>
                </c:pt>
                <c:pt idx="4">
                  <c:v>952</c:v>
                </c:pt>
                <c:pt idx="5">
                  <c:v>896</c:v>
                </c:pt>
                <c:pt idx="6">
                  <c:v>859</c:v>
                </c:pt>
                <c:pt idx="7">
                  <c:v>793</c:v>
                </c:pt>
                <c:pt idx="8">
                  <c:v>714</c:v>
                </c:pt>
                <c:pt idx="9">
                  <c:v>505</c:v>
                </c:pt>
                <c:pt idx="10">
                  <c:v>367</c:v>
                </c:pt>
                <c:pt idx="11">
                  <c:v>251</c:v>
                </c:pt>
                <c:pt idx="12">
                  <c:v>116</c:v>
                </c:pt>
                <c:pt idx="13">
                  <c:v>111</c:v>
                </c:pt>
                <c:pt idx="14">
                  <c:v>107</c:v>
                </c:pt>
                <c:pt idx="15">
                  <c:v>66</c:v>
                </c:pt>
                <c:pt idx="16">
                  <c:v>45</c:v>
                </c:pt>
                <c:pt idx="17">
                  <c:v>32</c:v>
                </c:pt>
                <c:pt idx="18">
                  <c:v>24</c:v>
                </c:pt>
                <c:pt idx="19">
                  <c:v>4</c:v>
                </c:pt>
                <c:pt idx="20">
                  <c:v>3</c:v>
                </c:pt>
                <c:pt idx="21">
                  <c:v>2</c:v>
                </c:pt>
              </c:numCache>
            </c:numRef>
          </c:val>
          <c:extLst>
            <c:ext xmlns:c16="http://schemas.microsoft.com/office/drawing/2014/chart" uri="{C3380CC4-5D6E-409C-BE32-E72D297353CC}">
              <c16:uniqueId val="{00000000-7DE6-4AD0-A782-3BCCB382C8D4}"/>
            </c:ext>
          </c:extLst>
        </c:ser>
        <c:dLbls>
          <c:showLegendKey val="0"/>
          <c:showVal val="1"/>
          <c:showCatName val="0"/>
          <c:showSerName val="0"/>
          <c:showPercent val="0"/>
          <c:showBubbleSize val="0"/>
        </c:dLbls>
        <c:gapWidth val="150"/>
        <c:shape val="box"/>
        <c:axId val="1240385568"/>
        <c:axId val="1240369248"/>
        <c:axId val="0"/>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Series 2</c:v>
                      </c:pt>
                    </c:strCache>
                  </c:strRef>
                </c:tx>
                <c:spPr>
                  <a:solidFill>
                    <a:schemeClr val="accent2"/>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Sheet1!$A$2:$A$23</c15:sqref>
                        </c15:formulaRef>
                      </c:ext>
                    </c:extLst>
                    <c:strCache>
                      <c:ptCount val="22"/>
                      <c:pt idx="0">
                        <c:v>Supersport Live Events</c:v>
                      </c:pt>
                      <c:pt idx="1">
                        <c:v>ICC Cricket World Cup 2011</c:v>
                      </c:pt>
                      <c:pt idx="2">
                        <c:v>Unknown_channel</c:v>
                      </c:pt>
                      <c:pt idx="3">
                        <c:v>Channel O</c:v>
                      </c:pt>
                      <c:pt idx="4">
                        <c:v>Trace TV</c:v>
                      </c:pt>
                      <c:pt idx="5">
                        <c:v>SuperSport Blitz</c:v>
                      </c:pt>
                      <c:pt idx="6">
                        <c:v>Africa Magic</c:v>
                      </c:pt>
                      <c:pt idx="7">
                        <c:v>Cartoon Network</c:v>
                      </c:pt>
                      <c:pt idx="8">
                        <c:v>Boomerang</c:v>
                      </c:pt>
                      <c:pt idx="9">
                        <c:v>CNN</c:v>
                      </c:pt>
                      <c:pt idx="10">
                        <c:v>E! Entertainment</c:v>
                      </c:pt>
                      <c:pt idx="11">
                        <c:v>SawSee</c:v>
                      </c:pt>
                      <c:pt idx="12">
                        <c:v>M-Net</c:v>
                      </c:pt>
                      <c:pt idx="13">
                        <c:v>Vuzu</c:v>
                      </c:pt>
                      <c:pt idx="14">
                        <c:v>DStv Events 1</c:v>
                      </c:pt>
                      <c:pt idx="15">
                        <c:v>Break in transmission</c:v>
                      </c:pt>
                      <c:pt idx="16">
                        <c:v>kykNET</c:v>
                      </c:pt>
                      <c:pt idx="17">
                        <c:v>MK</c:v>
                      </c:pt>
                      <c:pt idx="18">
                        <c:v>SuperSport Live Events</c:v>
                      </c:pt>
                      <c:pt idx="19">
                        <c:v>Sawsee</c:v>
                      </c:pt>
                      <c:pt idx="20">
                        <c:v>Wimbledon</c:v>
                      </c:pt>
                      <c:pt idx="21">
                        <c:v>Live on SuperSport</c:v>
                      </c:pt>
                    </c:strCache>
                  </c:strRef>
                </c:cat>
                <c:val>
                  <c:numRef>
                    <c:extLst>
                      <c:ext uri="{02D57815-91ED-43cb-92C2-25804820EDAC}">
                        <c15:formulaRef>
                          <c15:sqref>Sheet1!$C$2:$C$23</c15:sqref>
                        </c15:formulaRef>
                      </c:ext>
                    </c:extLst>
                    <c:numCache>
                      <c:formatCode>General</c:formatCode>
                      <c:ptCount val="22"/>
                      <c:pt idx="0">
                        <c:v>2.4</c:v>
                      </c:pt>
                      <c:pt idx="1">
                        <c:v>4.4000000000000004</c:v>
                      </c:pt>
                      <c:pt idx="2">
                        <c:v>1.8</c:v>
                      </c:pt>
                      <c:pt idx="3">
                        <c:v>2.8</c:v>
                      </c:pt>
                    </c:numCache>
                  </c:numRef>
                </c:val>
                <c:extLst>
                  <c:ext xmlns:c16="http://schemas.microsoft.com/office/drawing/2014/chart" uri="{C3380CC4-5D6E-409C-BE32-E72D297353CC}">
                    <c16:uniqueId val="{00000001-7DE6-4AD0-A782-3BCCB382C8D4}"/>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Series 3</c:v>
                      </c:pt>
                    </c:strCache>
                  </c:strRef>
                </c:tx>
                <c:spPr>
                  <a:solidFill>
                    <a:schemeClr val="accent3"/>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Sheet1!$A$2:$A$23</c15:sqref>
                        </c15:formulaRef>
                      </c:ext>
                    </c:extLst>
                    <c:strCache>
                      <c:ptCount val="22"/>
                      <c:pt idx="0">
                        <c:v>Supersport Live Events</c:v>
                      </c:pt>
                      <c:pt idx="1">
                        <c:v>ICC Cricket World Cup 2011</c:v>
                      </c:pt>
                      <c:pt idx="2">
                        <c:v>Unknown_channel</c:v>
                      </c:pt>
                      <c:pt idx="3">
                        <c:v>Channel O</c:v>
                      </c:pt>
                      <c:pt idx="4">
                        <c:v>Trace TV</c:v>
                      </c:pt>
                      <c:pt idx="5">
                        <c:v>SuperSport Blitz</c:v>
                      </c:pt>
                      <c:pt idx="6">
                        <c:v>Africa Magic</c:v>
                      </c:pt>
                      <c:pt idx="7">
                        <c:v>Cartoon Network</c:v>
                      </c:pt>
                      <c:pt idx="8">
                        <c:v>Boomerang</c:v>
                      </c:pt>
                      <c:pt idx="9">
                        <c:v>CNN</c:v>
                      </c:pt>
                      <c:pt idx="10">
                        <c:v>E! Entertainment</c:v>
                      </c:pt>
                      <c:pt idx="11">
                        <c:v>SawSee</c:v>
                      </c:pt>
                      <c:pt idx="12">
                        <c:v>M-Net</c:v>
                      </c:pt>
                      <c:pt idx="13">
                        <c:v>Vuzu</c:v>
                      </c:pt>
                      <c:pt idx="14">
                        <c:v>DStv Events 1</c:v>
                      </c:pt>
                      <c:pt idx="15">
                        <c:v>Break in transmission</c:v>
                      </c:pt>
                      <c:pt idx="16">
                        <c:v>kykNET</c:v>
                      </c:pt>
                      <c:pt idx="17">
                        <c:v>MK</c:v>
                      </c:pt>
                      <c:pt idx="18">
                        <c:v>SuperSport Live Events</c:v>
                      </c:pt>
                      <c:pt idx="19">
                        <c:v>Sawsee</c:v>
                      </c:pt>
                      <c:pt idx="20">
                        <c:v>Wimbledon</c:v>
                      </c:pt>
                      <c:pt idx="21">
                        <c:v>Live on SuperSport</c:v>
                      </c:pt>
                    </c:strCache>
                  </c:strRef>
                </c:cat>
                <c:val>
                  <c:numRef>
                    <c:extLst xmlns:c15="http://schemas.microsoft.com/office/drawing/2012/chart">
                      <c:ext xmlns:c15="http://schemas.microsoft.com/office/drawing/2012/chart" uri="{02D57815-91ED-43cb-92C2-25804820EDAC}">
                        <c15:formulaRef>
                          <c15:sqref>Sheet1!$D$2:$D$23</c15:sqref>
                        </c15:formulaRef>
                      </c:ext>
                    </c:extLst>
                    <c:numCache>
                      <c:formatCode>General</c:formatCode>
                      <c:ptCount val="22"/>
                      <c:pt idx="0">
                        <c:v>2</c:v>
                      </c:pt>
                      <c:pt idx="1">
                        <c:v>2</c:v>
                      </c:pt>
                      <c:pt idx="2">
                        <c:v>3</c:v>
                      </c:pt>
                      <c:pt idx="3">
                        <c:v>5</c:v>
                      </c:pt>
                    </c:numCache>
                  </c:numRef>
                </c:val>
                <c:extLst xmlns:c15="http://schemas.microsoft.com/office/drawing/2012/chart">
                  <c:ext xmlns:c16="http://schemas.microsoft.com/office/drawing/2014/chart" uri="{C3380CC4-5D6E-409C-BE32-E72D297353CC}">
                    <c16:uniqueId val="{00000002-7DE6-4AD0-A782-3BCCB382C8D4}"/>
                  </c:ext>
                </c:extLst>
              </c15:ser>
            </c15:filteredBarSeries>
          </c:ext>
        </c:extLst>
      </c:bar3DChart>
      <c:catAx>
        <c:axId val="1240385568"/>
        <c:scaling>
          <c:orientation val="minMax"/>
        </c:scaling>
        <c:delete val="0"/>
        <c:axPos val="b"/>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40369248"/>
        <c:crosses val="autoZero"/>
        <c:auto val="1"/>
        <c:lblAlgn val="ctr"/>
        <c:lblOffset val="100"/>
        <c:noMultiLvlLbl val="0"/>
      </c:catAx>
      <c:valAx>
        <c:axId val="12403692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403855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viewership_per_channel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Supersport Live Events</c:v>
                </c:pt>
                <c:pt idx="1">
                  <c:v>ICC Cricket World Cup 2011</c:v>
                </c:pt>
                <c:pt idx="2">
                  <c:v>No_Channel1</c:v>
                </c:pt>
                <c:pt idx="3">
                  <c:v>Channel O</c:v>
                </c:pt>
                <c:pt idx="4">
                  <c:v>Trace TV</c:v>
                </c:pt>
              </c:strCache>
            </c:strRef>
          </c:cat>
          <c:val>
            <c:numRef>
              <c:f>Sheet1!$B$2:$B$6</c:f>
              <c:numCache>
                <c:formatCode>General</c:formatCode>
                <c:ptCount val="5"/>
                <c:pt idx="0">
                  <c:v>1638</c:v>
                </c:pt>
                <c:pt idx="1">
                  <c:v>1465</c:v>
                </c:pt>
                <c:pt idx="2">
                  <c:v>1295</c:v>
                </c:pt>
                <c:pt idx="3">
                  <c:v>1050</c:v>
                </c:pt>
                <c:pt idx="4">
                  <c:v>952</c:v>
                </c:pt>
              </c:numCache>
            </c:numRef>
          </c:val>
          <c:extLst>
            <c:ext xmlns:c16="http://schemas.microsoft.com/office/drawing/2014/chart" uri="{C3380CC4-5D6E-409C-BE32-E72D297353CC}">
              <c16:uniqueId val="{00000000-346F-45AE-A1E3-99B8874280A0}"/>
            </c:ext>
          </c:extLst>
        </c:ser>
        <c:dLbls>
          <c:dLblPos val="outEnd"/>
          <c:showLegendKey val="0"/>
          <c:showVal val="1"/>
          <c:showCatName val="0"/>
          <c:showSerName val="0"/>
          <c:showPercent val="0"/>
          <c:showBubbleSize val="0"/>
        </c:dLbls>
        <c:gapWidth val="182"/>
        <c:axId val="1148653679"/>
        <c:axId val="1148645519"/>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Sheet1!$A$2:$A$6</c15:sqref>
                        </c15:formulaRef>
                      </c:ext>
                    </c:extLst>
                    <c:strCache>
                      <c:ptCount val="5"/>
                      <c:pt idx="0">
                        <c:v>Supersport Live Events</c:v>
                      </c:pt>
                      <c:pt idx="1">
                        <c:v>ICC Cricket World Cup 2011</c:v>
                      </c:pt>
                      <c:pt idx="2">
                        <c:v>No_Channel1</c:v>
                      </c:pt>
                      <c:pt idx="3">
                        <c:v>Channel O</c:v>
                      </c:pt>
                      <c:pt idx="4">
                        <c:v>Trace TV</c:v>
                      </c:pt>
                    </c:strCache>
                  </c:strRef>
                </c:cat>
                <c:val>
                  <c:numRef>
                    <c:extLst>
                      <c:ext uri="{02D57815-91ED-43cb-92C2-25804820EDAC}">
                        <c15:formulaRef>
                          <c15:sqref>Sheet1!$C$2:$C$6</c15:sqref>
                        </c15:formulaRef>
                      </c:ext>
                    </c:extLst>
                    <c:numCache>
                      <c:formatCode>General</c:formatCode>
                      <c:ptCount val="5"/>
                      <c:pt idx="0">
                        <c:v>2.4</c:v>
                      </c:pt>
                      <c:pt idx="1">
                        <c:v>4.4000000000000004</c:v>
                      </c:pt>
                      <c:pt idx="2">
                        <c:v>1.8</c:v>
                      </c:pt>
                      <c:pt idx="3">
                        <c:v>2.8</c:v>
                      </c:pt>
                    </c:numCache>
                  </c:numRef>
                </c:val>
                <c:extLst>
                  <c:ext xmlns:c16="http://schemas.microsoft.com/office/drawing/2014/chart" uri="{C3380CC4-5D6E-409C-BE32-E72D297353CC}">
                    <c16:uniqueId val="{00000001-346F-45AE-A1E3-99B8874280A0}"/>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xmlns:c15="http://schemas.microsoft.com/office/drawing/2012/chart">
                      <c:ext xmlns:c15="http://schemas.microsoft.com/office/drawing/2012/chart" uri="{02D57815-91ED-43cb-92C2-25804820EDAC}">
                        <c15:formulaRef>
                          <c15:sqref>Sheet1!$A$2:$A$6</c15:sqref>
                        </c15:formulaRef>
                      </c:ext>
                    </c:extLst>
                    <c:strCache>
                      <c:ptCount val="5"/>
                      <c:pt idx="0">
                        <c:v>Supersport Live Events</c:v>
                      </c:pt>
                      <c:pt idx="1">
                        <c:v>ICC Cricket World Cup 2011</c:v>
                      </c:pt>
                      <c:pt idx="2">
                        <c:v>No_Channel1</c:v>
                      </c:pt>
                      <c:pt idx="3">
                        <c:v>Channel O</c:v>
                      </c:pt>
                      <c:pt idx="4">
                        <c:v>Trace TV</c:v>
                      </c:pt>
                    </c:strCache>
                  </c:strRef>
                </c:cat>
                <c:val>
                  <c:numRef>
                    <c:extLst xmlns:c15="http://schemas.microsoft.com/office/drawing/2012/chart">
                      <c:ext xmlns:c15="http://schemas.microsoft.com/office/drawing/2012/chart" uri="{02D57815-91ED-43cb-92C2-25804820EDAC}">
                        <c15:formulaRef>
                          <c15:sqref>Sheet1!$D$2:$D$6</c15:sqref>
                        </c15:formulaRef>
                      </c:ext>
                    </c:extLst>
                    <c:numCache>
                      <c:formatCode>General</c:formatCode>
                      <c:ptCount val="5"/>
                      <c:pt idx="0">
                        <c:v>2</c:v>
                      </c:pt>
                      <c:pt idx="1">
                        <c:v>2</c:v>
                      </c:pt>
                      <c:pt idx="2">
                        <c:v>3</c:v>
                      </c:pt>
                      <c:pt idx="3">
                        <c:v>5</c:v>
                      </c:pt>
                    </c:numCache>
                  </c:numRef>
                </c:val>
                <c:extLst xmlns:c15="http://schemas.microsoft.com/office/drawing/2012/chart">
                  <c:ext xmlns:c16="http://schemas.microsoft.com/office/drawing/2014/chart" uri="{C3380CC4-5D6E-409C-BE32-E72D297353CC}">
                    <c16:uniqueId val="{00000002-346F-45AE-A1E3-99B8874280A0}"/>
                  </c:ext>
                </c:extLst>
              </c15:ser>
            </c15:filteredBarSeries>
          </c:ext>
        </c:extLst>
      </c:barChart>
      <c:catAx>
        <c:axId val="114865367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48645519"/>
        <c:crosses val="autoZero"/>
        <c:auto val="1"/>
        <c:lblAlgn val="ctr"/>
        <c:lblOffset val="100"/>
        <c:noMultiLvlLbl val="0"/>
      </c:catAx>
      <c:valAx>
        <c:axId val="1148645519"/>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486536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37">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38100" cap="flat" cmpd="dbl" algn="ctr">
        <a:solidFill>
          <a:schemeClr val="phClr"/>
        </a:solidFill>
        <a:miter lim="800000"/>
      </a:ln>
    </cs:spPr>
  </cs:dataPointLine>
  <cs:dataPointMarker>
    <cs:lnRef idx="0">
      <cs:styleClr val="auto"/>
    </cs:lnRef>
    <cs:fillRef idx="0">
      <cs:styleClr val="auto"/>
    </cs:fillRef>
    <cs:effectRef idx="0"/>
    <cs:fontRef idx="minor">
      <a:schemeClr val="tx1"/>
    </cs:fontRef>
    <cs:spPr>
      <a:solidFill>
        <a:schemeClr val="phClr"/>
      </a:solidFill>
      <a:ln w="9525" cap="flat" cmpd="sng" algn="ctr">
        <a:solidFill>
          <a:schemeClr val="lt1"/>
        </a:solidFill>
        <a:round/>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tx1"/>
    </cs:fontRef>
    <cs:spPr>
      <a:ln w="9525">
        <a:solidFill>
          <a:schemeClr val="tx1">
            <a:lumMod val="35000"/>
            <a:lumOff val="65000"/>
          </a:schemeClr>
        </a:solidFill>
      </a:ln>
    </cs:spPr>
  </cs:dropLine>
  <cs:errorBar>
    <cs:lnRef idx="0"/>
    <cs:fillRef idx="0"/>
    <cs:effectRef idx="0"/>
    <cs:fontRef idx="minor">
      <a:schemeClr val="tx1"/>
    </cs:fontRef>
    <cs:spPr>
      <a:ln w="9525">
        <a:solidFill>
          <a:schemeClr val="tx1">
            <a:lumMod val="65000"/>
            <a:lumOff val="35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alpha val="32000"/>
          </a:schemeClr>
        </a:solidFill>
        <a:round/>
      </a:ln>
    </cs:spPr>
  </cs:gridlineMajor>
  <cs:gridlineMinor>
    <cs:lnRef idx="0"/>
    <cs:fillRef idx="0"/>
    <cs:effectRef idx="0"/>
    <cs:fontRef idx="minor">
      <a:schemeClr val="tx1"/>
    </cs:fontRef>
    <cs:spPr>
      <a:ln>
        <a:solidFill>
          <a:schemeClr val="tx1">
            <a:lumMod val="5000"/>
            <a:lumOff val="95000"/>
            <a:alpha val="32000"/>
          </a:schemeClr>
        </a:solidFill>
      </a:ln>
    </cs:spPr>
  </cs:gridlineMinor>
  <cs:hiLoLine>
    <cs:lnRef idx="0"/>
    <cs:fillRef idx="0"/>
    <cs:effectRef idx="0"/>
    <cs:fontRef idx="minor">
      <a:schemeClr val="tx1"/>
    </cs:fontRef>
    <cs:spPr>
      <a:ln w="9525">
        <a:solidFill>
          <a:schemeClr val="tx1"/>
        </a:solidFill>
      </a:ln>
    </cs:spPr>
  </cs:hiLoLine>
  <cs:leaderLine>
    <cs:lnRef idx="0"/>
    <cs:fillRef idx="0"/>
    <cs:effectRef idx="0"/>
    <cs:fontRef idx="minor">
      <a:schemeClr val="tx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cs:fontRef>
    <cs:spPr>
      <a:ln w="3175" cap="flat" cmpd="sng" algn="ctr">
        <a:solidFill>
          <a:schemeClr val="tx1">
            <a:lumMod val="15000"/>
            <a:lumOff val="85000"/>
          </a:schemeClr>
        </a:solidFill>
        <a:round/>
        <a:tailEnd type="none" w="med" len="lg"/>
      </a:ln>
    </cs:spPr>
    <cs:defRPr sz="1197" kern="1200"/>
  </cs:seriesAxis>
  <cs:seriesLine>
    <cs:lnRef idx="0"/>
    <cs:fillRef idx="0"/>
    <cs:effectRef idx="0"/>
    <cs:fontRef idx="minor">
      <a:schemeClr val="tx1"/>
    </cs:fontRef>
    <cs:spPr>
      <a:ln w="9525">
        <a:solidFill>
          <a:schemeClr val="tx1">
            <a:lumMod val="35000"/>
            <a:lumOff val="65000"/>
          </a:schemeClr>
        </a:solidFill>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tx1"/>
    </cs:fontRef>
    <cs:spPr>
      <a:ln w="12700" cap="rnd"/>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20">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EDA728-AEDA-430E-9FBB-9F1E2EC9F332}" type="datetimeFigureOut">
              <a:rPr lang="en-ZA" smtClean="0"/>
              <a:t>2026/04/19</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012675-08B8-41D4-B26F-E18BE1A00BC7}" type="slidenum">
              <a:rPr lang="en-ZA" smtClean="0"/>
              <a:t>‹#›</a:t>
            </a:fld>
            <a:endParaRPr lang="en-ZA"/>
          </a:p>
        </p:txBody>
      </p:sp>
    </p:spTree>
    <p:extLst>
      <p:ext uri="{BB962C8B-B14F-4D97-AF65-F5344CB8AC3E}">
        <p14:creationId xmlns:p14="http://schemas.microsoft.com/office/powerpoint/2010/main" val="1997047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74012675-08B8-41D4-B26F-E18BE1A00BC7}" type="slidenum">
              <a:rPr lang="en-ZA" smtClean="0"/>
              <a:t>3</a:t>
            </a:fld>
            <a:endParaRPr lang="en-ZA"/>
          </a:p>
        </p:txBody>
      </p:sp>
    </p:spTree>
    <p:extLst>
      <p:ext uri="{BB962C8B-B14F-4D97-AF65-F5344CB8AC3E}">
        <p14:creationId xmlns:p14="http://schemas.microsoft.com/office/powerpoint/2010/main" val="1618670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74012675-08B8-41D4-B26F-E18BE1A00BC7}" type="slidenum">
              <a:rPr lang="en-ZA" smtClean="0"/>
              <a:t>6</a:t>
            </a:fld>
            <a:endParaRPr lang="en-ZA"/>
          </a:p>
        </p:txBody>
      </p:sp>
    </p:spTree>
    <p:extLst>
      <p:ext uri="{BB962C8B-B14F-4D97-AF65-F5344CB8AC3E}">
        <p14:creationId xmlns:p14="http://schemas.microsoft.com/office/powerpoint/2010/main" val="1982127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74012675-08B8-41D4-B26F-E18BE1A00BC7}" type="slidenum">
              <a:rPr lang="en-ZA" smtClean="0"/>
              <a:t>9</a:t>
            </a:fld>
            <a:endParaRPr lang="en-ZA"/>
          </a:p>
        </p:txBody>
      </p:sp>
    </p:spTree>
    <p:extLst>
      <p:ext uri="{BB962C8B-B14F-4D97-AF65-F5344CB8AC3E}">
        <p14:creationId xmlns:p14="http://schemas.microsoft.com/office/powerpoint/2010/main" val="23130975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74012675-08B8-41D4-B26F-E18BE1A00BC7}" type="slidenum">
              <a:rPr lang="en-ZA" smtClean="0"/>
              <a:t>11</a:t>
            </a:fld>
            <a:endParaRPr lang="en-ZA"/>
          </a:p>
        </p:txBody>
      </p:sp>
    </p:spTree>
    <p:extLst>
      <p:ext uri="{BB962C8B-B14F-4D97-AF65-F5344CB8AC3E}">
        <p14:creationId xmlns:p14="http://schemas.microsoft.com/office/powerpoint/2010/main" val="1959533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4/19/2026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5393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4/19/2026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69890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4/19/2026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48979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4/19/2026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7416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4/19/2026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01277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4/19/2026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4021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4/19/2026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24927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4/19/2026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43377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4/19/2026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67016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4/19/2026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07945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4/19/2026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44419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4/19/2026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0369124"/>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55" r:id="rId6"/>
    <p:sldLayoutId id="2147483751" r:id="rId7"/>
    <p:sldLayoutId id="2147483752" r:id="rId8"/>
    <p:sldLayoutId id="2147483753" r:id="rId9"/>
    <p:sldLayoutId id="2147483754" r:id="rId10"/>
    <p:sldLayoutId id="2147483756"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chart" Target="../charts/chart8.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59" name="Rectangle 105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CC446E-610A-698A-3A11-48F902BCB706}"/>
              </a:ext>
            </a:extLst>
          </p:cNvPr>
          <p:cNvSpPr>
            <a:spLocks noGrp="1"/>
          </p:cNvSpPr>
          <p:nvPr>
            <p:ph type="ctrTitle"/>
          </p:nvPr>
        </p:nvSpPr>
        <p:spPr>
          <a:xfrm>
            <a:off x="703400" y="871758"/>
            <a:ext cx="5227171" cy="3871143"/>
          </a:xfrm>
        </p:spPr>
        <p:txBody>
          <a:bodyPr>
            <a:normAutofit/>
          </a:bodyPr>
          <a:lstStyle/>
          <a:p>
            <a:pPr algn="ctr"/>
            <a:br>
              <a:rPr lang="en-ZA" dirty="0"/>
            </a:br>
            <a:r>
              <a:rPr lang="en-ZA" sz="6000" dirty="0"/>
              <a:t>Bright TV analysis.</a:t>
            </a:r>
          </a:p>
        </p:txBody>
      </p:sp>
      <p:sp>
        <p:nvSpPr>
          <p:cNvPr id="3" name="Subtitle 2">
            <a:extLst>
              <a:ext uri="{FF2B5EF4-FFF2-40B4-BE49-F238E27FC236}">
                <a16:creationId xmlns:a16="http://schemas.microsoft.com/office/drawing/2014/main" id="{3E7FCF32-2CDE-1125-7ED5-9C8A1E204E5B}"/>
              </a:ext>
            </a:extLst>
          </p:cNvPr>
          <p:cNvSpPr>
            <a:spLocks noGrp="1"/>
          </p:cNvSpPr>
          <p:nvPr>
            <p:ph type="subTitle" idx="1"/>
          </p:nvPr>
        </p:nvSpPr>
        <p:spPr>
          <a:xfrm>
            <a:off x="721688" y="4785543"/>
            <a:ext cx="4857857" cy="1005657"/>
          </a:xfrm>
        </p:spPr>
        <p:txBody>
          <a:bodyPr>
            <a:normAutofit/>
          </a:bodyPr>
          <a:lstStyle/>
          <a:p>
            <a:r>
              <a:rPr lang="en-ZA"/>
              <a:t>Presentation by Andiswa Asanda Mchunu.</a:t>
            </a:r>
            <a:endParaRPr lang="en-ZA" dirty="0"/>
          </a:p>
        </p:txBody>
      </p:sp>
      <p:cxnSp>
        <p:nvCxnSpPr>
          <p:cNvPr id="1061" name="Straight Connector 106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3" name="Straight Connector 1062">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028" name="Picture 4" descr="Story pin image">
            <a:extLst>
              <a:ext uri="{FF2B5EF4-FFF2-40B4-BE49-F238E27FC236}">
                <a16:creationId xmlns:a16="http://schemas.microsoft.com/office/drawing/2014/main" id="{30CA64AB-64FE-A9C2-404C-13F5052E1C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022" r="1200"/>
          <a:stretch>
            <a:fillRect/>
          </a:stretch>
        </p:blipFill>
        <p:spPr bwMode="auto">
          <a:xfrm>
            <a:off x="6515100" y="10"/>
            <a:ext cx="567690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1770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2000"/>
                                  </p:stCondLst>
                                  <p:iterate type="lt">
                                    <p:tmPct val="10000"/>
                                  </p:iterate>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B5EAB-CB18-E720-D092-7C80B81454EB}"/>
              </a:ext>
            </a:extLst>
          </p:cNvPr>
          <p:cNvSpPr>
            <a:spLocks noGrp="1"/>
          </p:cNvSpPr>
          <p:nvPr>
            <p:ph type="title"/>
          </p:nvPr>
        </p:nvSpPr>
        <p:spPr>
          <a:xfrm>
            <a:off x="1028626" y="636104"/>
            <a:ext cx="10691265" cy="1307592"/>
          </a:xfrm>
        </p:spPr>
        <p:txBody>
          <a:bodyPr>
            <a:normAutofit/>
          </a:bodyPr>
          <a:lstStyle/>
          <a:p>
            <a:pPr algn="ctr"/>
            <a:r>
              <a:rPr lang="en-ZA" sz="6000" dirty="0"/>
              <a:t>Understanding the data.</a:t>
            </a:r>
          </a:p>
        </p:txBody>
      </p:sp>
      <p:graphicFrame>
        <p:nvGraphicFramePr>
          <p:cNvPr id="11" name="Content Placeholder 10">
            <a:extLst>
              <a:ext uri="{FF2B5EF4-FFF2-40B4-BE49-F238E27FC236}">
                <a16:creationId xmlns:a16="http://schemas.microsoft.com/office/drawing/2014/main" id="{4E69A2CF-E17F-28DF-55FB-296230052CB4}"/>
              </a:ext>
            </a:extLst>
          </p:cNvPr>
          <p:cNvGraphicFramePr>
            <a:graphicFrameLocks noGrp="1"/>
          </p:cNvGraphicFramePr>
          <p:nvPr>
            <p:ph idx="1"/>
            <p:extLst>
              <p:ext uri="{D42A27DB-BD31-4B8C-83A1-F6EECF244321}">
                <p14:modId xmlns:p14="http://schemas.microsoft.com/office/powerpoint/2010/main" val="4216950556"/>
              </p:ext>
            </p:extLst>
          </p:nvPr>
        </p:nvGraphicFramePr>
        <p:xfrm>
          <a:off x="506896" y="1943696"/>
          <a:ext cx="10885004" cy="3301364"/>
        </p:xfrm>
        <a:graphic>
          <a:graphicData uri="http://schemas.openxmlformats.org/drawingml/2006/table">
            <a:tbl>
              <a:tblPr firstRow="1" bandRow="1">
                <a:tableStyleId>{306799F8-075E-4A3A-A7F6-7FBC6576F1A4}</a:tableStyleId>
              </a:tblPr>
              <a:tblGrid>
                <a:gridCol w="5442502">
                  <a:extLst>
                    <a:ext uri="{9D8B030D-6E8A-4147-A177-3AD203B41FA5}">
                      <a16:colId xmlns:a16="http://schemas.microsoft.com/office/drawing/2014/main" val="890890458"/>
                    </a:ext>
                  </a:extLst>
                </a:gridCol>
                <a:gridCol w="5442502">
                  <a:extLst>
                    <a:ext uri="{9D8B030D-6E8A-4147-A177-3AD203B41FA5}">
                      <a16:colId xmlns:a16="http://schemas.microsoft.com/office/drawing/2014/main" val="765115203"/>
                    </a:ext>
                  </a:extLst>
                </a:gridCol>
              </a:tblGrid>
              <a:tr h="904376">
                <a:tc>
                  <a:txBody>
                    <a:bodyPr/>
                    <a:lstStyle/>
                    <a:p>
                      <a:pPr algn="ctr"/>
                      <a:r>
                        <a:rPr lang="en-ZA" dirty="0"/>
                        <a:t>Sample Size</a:t>
                      </a:r>
                    </a:p>
                    <a:p>
                      <a:pPr algn="ctr"/>
                      <a:endParaRPr lang="en-ZA" dirty="0"/>
                    </a:p>
                  </a:txBody>
                  <a:tcPr anchor="b"/>
                </a:tc>
                <a:tc>
                  <a:txBody>
                    <a:bodyPr/>
                    <a:lstStyle/>
                    <a:p>
                      <a:pPr algn="ctr"/>
                      <a:endParaRPr lang="en-ZA" dirty="0"/>
                    </a:p>
                    <a:p>
                      <a:pPr algn="ctr"/>
                      <a:r>
                        <a:rPr lang="en-ZA" dirty="0"/>
                        <a:t>Duration</a:t>
                      </a:r>
                    </a:p>
                  </a:txBody>
                  <a:tcPr>
                    <a:noFill/>
                  </a:tcPr>
                </a:tc>
                <a:extLst>
                  <a:ext uri="{0D108BD9-81ED-4DB2-BD59-A6C34878D82A}">
                    <a16:rowId xmlns:a16="http://schemas.microsoft.com/office/drawing/2014/main" val="2242706506"/>
                  </a:ext>
                </a:extLst>
              </a:tr>
              <a:tr h="9987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b="0" i="0" kern="1200" dirty="0">
                          <a:solidFill>
                            <a:schemeClr val="lt1"/>
                          </a:solidFill>
                          <a:effectLst/>
                          <a:latin typeface="+mn-lt"/>
                          <a:ea typeface="+mn-ea"/>
                          <a:cs typeface="+mn-cs"/>
                        </a:rPr>
                        <a:t>5375 </a:t>
                      </a:r>
                      <a:r>
                        <a:rPr lang="en-ZA" sz="1800" b="0" kern="1200" dirty="0">
                          <a:solidFill>
                            <a:schemeClr val="bg1"/>
                          </a:solidFill>
                          <a:effectLst/>
                        </a:rPr>
                        <a:t>Distinct Users</a:t>
                      </a:r>
                    </a:p>
                    <a:p>
                      <a:pPr algn="ctr"/>
                      <a:endParaRPr lang="en-ZA" dirty="0"/>
                    </a:p>
                  </a:txBody>
                  <a:tcPr/>
                </a:tc>
                <a:tc>
                  <a:txBody>
                    <a:bodyPr/>
                    <a:lstStyle/>
                    <a:p>
                      <a:pPr algn="ctr"/>
                      <a:r>
                        <a:rPr lang="en-ZA" dirty="0"/>
                        <a:t>Start date:</a:t>
                      </a:r>
                    </a:p>
                    <a:p>
                      <a:pPr algn="ctr"/>
                      <a:r>
                        <a:rPr lang="en-ZA" dirty="0"/>
                        <a:t>01 January 2016</a:t>
                      </a:r>
                    </a:p>
                    <a:p>
                      <a:pPr algn="ctr"/>
                      <a:endParaRPr lang="en-ZA" dirty="0"/>
                    </a:p>
                  </a:txBody>
                  <a:tcPr/>
                </a:tc>
                <a:extLst>
                  <a:ext uri="{0D108BD9-81ED-4DB2-BD59-A6C34878D82A}">
                    <a16:rowId xmlns:a16="http://schemas.microsoft.com/office/drawing/2014/main" val="771278901"/>
                  </a:ext>
                </a:extLst>
              </a:tr>
              <a:tr h="9987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800" b="0" i="0" kern="1200" dirty="0">
                          <a:solidFill>
                            <a:schemeClr val="lt1"/>
                          </a:solidFill>
                          <a:effectLst/>
                          <a:latin typeface="+mn-lt"/>
                          <a:ea typeface="+mn-ea"/>
                          <a:cs typeface="+mn-cs"/>
                        </a:rPr>
                        <a:t>11295 </a:t>
                      </a:r>
                      <a:r>
                        <a:rPr lang="en-ZA" sz="1800" b="0" kern="1200" dirty="0">
                          <a:solidFill>
                            <a:schemeClr val="bg1"/>
                          </a:solidFill>
                          <a:effectLst/>
                        </a:rPr>
                        <a:t>rows or people after using OUTER FULL JOIN to join the tables.</a:t>
                      </a:r>
                    </a:p>
                    <a:p>
                      <a:pPr algn="ctr"/>
                      <a:endParaRPr lang="en-ZA" dirty="0"/>
                    </a:p>
                  </a:txBody>
                  <a:tcPr/>
                </a:tc>
                <a:tc>
                  <a:txBody>
                    <a:bodyPr/>
                    <a:lstStyle/>
                    <a:p>
                      <a:pPr algn="ctr"/>
                      <a:r>
                        <a:rPr lang="en-ZA" dirty="0"/>
                        <a:t>End date:</a:t>
                      </a:r>
                    </a:p>
                    <a:p>
                      <a:pPr algn="ctr"/>
                      <a:r>
                        <a:rPr lang="en-ZA" dirty="0"/>
                        <a:t>01 April 2016</a:t>
                      </a:r>
                    </a:p>
                  </a:txBody>
                  <a:tcPr/>
                </a:tc>
                <a:extLst>
                  <a:ext uri="{0D108BD9-81ED-4DB2-BD59-A6C34878D82A}">
                    <a16:rowId xmlns:a16="http://schemas.microsoft.com/office/drawing/2014/main" val="13035415"/>
                  </a:ext>
                </a:extLst>
              </a:tr>
              <a:tr h="399498">
                <a:tc>
                  <a:txBody>
                    <a:bodyPr/>
                    <a:lstStyle/>
                    <a:p>
                      <a:pPr algn="ctr"/>
                      <a:endParaRPr lang="en-ZA"/>
                    </a:p>
                  </a:txBody>
                  <a:tcPr/>
                </a:tc>
                <a:tc>
                  <a:txBody>
                    <a:bodyPr/>
                    <a:lstStyle/>
                    <a:p>
                      <a:pPr algn="ctr"/>
                      <a:endParaRPr lang="en-ZA" dirty="0"/>
                    </a:p>
                  </a:txBody>
                  <a:tcPr/>
                </a:tc>
                <a:extLst>
                  <a:ext uri="{0D108BD9-81ED-4DB2-BD59-A6C34878D82A}">
                    <a16:rowId xmlns:a16="http://schemas.microsoft.com/office/drawing/2014/main" val="3479428835"/>
                  </a:ext>
                </a:extLst>
              </a:tr>
            </a:tbl>
          </a:graphicData>
        </a:graphic>
      </p:graphicFrame>
      <p:pic>
        <p:nvPicPr>
          <p:cNvPr id="4" name="Picture 3">
            <a:extLst>
              <a:ext uri="{FF2B5EF4-FFF2-40B4-BE49-F238E27FC236}">
                <a16:creationId xmlns:a16="http://schemas.microsoft.com/office/drawing/2014/main" id="{94BAAFC3-23DD-2D23-964D-F51BAFD3A79D}"/>
              </a:ext>
            </a:extLst>
          </p:cNvPr>
          <p:cNvPicPr>
            <a:picLocks noChangeAspect="1"/>
          </p:cNvPicPr>
          <p:nvPr/>
        </p:nvPicPr>
        <p:blipFill>
          <a:blip r:embed="rId2"/>
          <a:stretch>
            <a:fillRect/>
          </a:stretch>
        </p:blipFill>
        <p:spPr>
          <a:xfrm>
            <a:off x="0" y="0"/>
            <a:ext cx="12191999" cy="6857999"/>
          </a:xfrm>
          <a:prstGeom prst="rect">
            <a:avLst/>
          </a:prstGeom>
        </p:spPr>
      </p:pic>
    </p:spTree>
    <p:extLst>
      <p:ext uri="{BB962C8B-B14F-4D97-AF65-F5344CB8AC3E}">
        <p14:creationId xmlns:p14="http://schemas.microsoft.com/office/powerpoint/2010/main" val="1973228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6A79A-59CB-8989-612A-3200B19EFFE0}"/>
              </a:ext>
            </a:extLst>
          </p:cNvPr>
          <p:cNvSpPr>
            <a:spLocks noGrp="1"/>
          </p:cNvSpPr>
          <p:nvPr>
            <p:ph type="title"/>
          </p:nvPr>
        </p:nvSpPr>
        <p:spPr>
          <a:xfrm>
            <a:off x="700635" y="914400"/>
            <a:ext cx="10691265" cy="747252"/>
          </a:xfrm>
        </p:spPr>
        <p:txBody>
          <a:bodyPr/>
          <a:lstStyle/>
          <a:p>
            <a:pPr algn="ctr"/>
            <a:r>
              <a:rPr lang="en-ZA" dirty="0"/>
              <a:t>Viewership per province</a:t>
            </a:r>
          </a:p>
        </p:txBody>
      </p:sp>
      <p:graphicFrame>
        <p:nvGraphicFramePr>
          <p:cNvPr id="4" name="Content Placeholder 3">
            <a:extLst>
              <a:ext uri="{FF2B5EF4-FFF2-40B4-BE49-F238E27FC236}">
                <a16:creationId xmlns:a16="http://schemas.microsoft.com/office/drawing/2014/main" id="{19EDB412-3892-4BD7-C797-440BA2219655}"/>
              </a:ext>
            </a:extLst>
          </p:cNvPr>
          <p:cNvGraphicFramePr>
            <a:graphicFrameLocks noGrp="1"/>
          </p:cNvGraphicFramePr>
          <p:nvPr>
            <p:ph idx="1"/>
            <p:extLst>
              <p:ext uri="{D42A27DB-BD31-4B8C-83A1-F6EECF244321}">
                <p14:modId xmlns:p14="http://schemas.microsoft.com/office/powerpoint/2010/main" val="3896131938"/>
              </p:ext>
            </p:extLst>
          </p:nvPr>
        </p:nvGraphicFramePr>
        <p:xfrm>
          <a:off x="6096000" y="1661652"/>
          <a:ext cx="5295899" cy="4300998"/>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83020E51-08F0-C8A3-6D1E-D4C7DB328B9A}"/>
              </a:ext>
            </a:extLst>
          </p:cNvPr>
          <p:cNvSpPr txBox="1"/>
          <p:nvPr/>
        </p:nvSpPr>
        <p:spPr>
          <a:xfrm>
            <a:off x="231058" y="1483582"/>
            <a:ext cx="6096000" cy="1477328"/>
          </a:xfrm>
          <a:prstGeom prst="rect">
            <a:avLst/>
          </a:prstGeom>
          <a:noFill/>
        </p:spPr>
        <p:txBody>
          <a:bodyPr wrap="square">
            <a:spAutoFit/>
          </a:bodyPr>
          <a:lstStyle/>
          <a:p>
            <a:r>
              <a:rPr lang="en-ZA" b="1" u="sng" dirty="0"/>
              <a:t>Gauteng </a:t>
            </a:r>
          </a:p>
          <a:p>
            <a:r>
              <a:rPr lang="en-ZA" dirty="0"/>
              <a:t>Has the highest number of viewers, in this case 3 786 viewers. This is because it has the</a:t>
            </a:r>
            <a:r>
              <a:rPr lang="en-US" dirty="0"/>
              <a:t> highest population, housing approximately </a:t>
            </a:r>
            <a:r>
              <a:rPr lang="en-US" b="1" dirty="0"/>
              <a:t>15.9 million to 16.1 million people according to Stats SA.</a:t>
            </a:r>
            <a:endParaRPr lang="en-ZA" dirty="0"/>
          </a:p>
        </p:txBody>
      </p:sp>
      <p:sp>
        <p:nvSpPr>
          <p:cNvPr id="8" name="TextBox 7">
            <a:extLst>
              <a:ext uri="{FF2B5EF4-FFF2-40B4-BE49-F238E27FC236}">
                <a16:creationId xmlns:a16="http://schemas.microsoft.com/office/drawing/2014/main" id="{FD98D15C-819C-3931-4CC4-DAA7D5956C70}"/>
              </a:ext>
            </a:extLst>
          </p:cNvPr>
          <p:cNvSpPr txBox="1"/>
          <p:nvPr/>
        </p:nvSpPr>
        <p:spPr>
          <a:xfrm>
            <a:off x="231058" y="3139897"/>
            <a:ext cx="6096000" cy="1200329"/>
          </a:xfrm>
          <a:prstGeom prst="rect">
            <a:avLst/>
          </a:prstGeom>
          <a:noFill/>
        </p:spPr>
        <p:txBody>
          <a:bodyPr wrap="square">
            <a:spAutoFit/>
          </a:bodyPr>
          <a:lstStyle/>
          <a:p>
            <a:r>
              <a:rPr lang="en-ZA" b="1" u="sng" dirty="0"/>
              <a:t>Northern Cape</a:t>
            </a:r>
          </a:p>
          <a:p>
            <a:r>
              <a:rPr lang="en-ZA" dirty="0"/>
              <a:t>Has the lowest number of viewers, in this case it is 236 viewers. This is because </a:t>
            </a:r>
            <a:r>
              <a:rPr lang="en-US" dirty="0"/>
              <a:t>it is approximately housing  1.38 million people.</a:t>
            </a:r>
            <a:endParaRPr lang="en-ZA" dirty="0"/>
          </a:p>
        </p:txBody>
      </p:sp>
      <p:sp>
        <p:nvSpPr>
          <p:cNvPr id="10" name="TextBox 9">
            <a:extLst>
              <a:ext uri="{FF2B5EF4-FFF2-40B4-BE49-F238E27FC236}">
                <a16:creationId xmlns:a16="http://schemas.microsoft.com/office/drawing/2014/main" id="{9A4F9139-A33D-BB55-A52E-5E7835EB4CBF}"/>
              </a:ext>
            </a:extLst>
          </p:cNvPr>
          <p:cNvSpPr txBox="1"/>
          <p:nvPr/>
        </p:nvSpPr>
        <p:spPr>
          <a:xfrm>
            <a:off x="231058" y="4689773"/>
            <a:ext cx="6096000" cy="923330"/>
          </a:xfrm>
          <a:prstGeom prst="rect">
            <a:avLst/>
          </a:prstGeom>
          <a:noFill/>
        </p:spPr>
        <p:txBody>
          <a:bodyPr wrap="square">
            <a:spAutoFit/>
          </a:bodyPr>
          <a:lstStyle/>
          <a:p>
            <a:r>
              <a:rPr lang="en-ZA" b="1" u="sng" dirty="0"/>
              <a:t>NULLS/ Nones</a:t>
            </a:r>
          </a:p>
          <a:p>
            <a:r>
              <a:rPr lang="en-ZA" dirty="0"/>
              <a:t>The sum of 1049 viewers where unaccounted for, as to which province are they from.</a:t>
            </a:r>
          </a:p>
        </p:txBody>
      </p:sp>
    </p:spTree>
    <p:extLst>
      <p:ext uri="{BB962C8B-B14F-4D97-AF65-F5344CB8AC3E}">
        <p14:creationId xmlns:p14="http://schemas.microsoft.com/office/powerpoint/2010/main" val="1436675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F8475-6A5A-BB7A-A253-1BD594D11122}"/>
              </a:ext>
            </a:extLst>
          </p:cNvPr>
          <p:cNvSpPr>
            <a:spLocks noGrp="1"/>
          </p:cNvSpPr>
          <p:nvPr>
            <p:ph type="title"/>
          </p:nvPr>
        </p:nvSpPr>
        <p:spPr>
          <a:xfrm>
            <a:off x="700635" y="914400"/>
            <a:ext cx="10691265" cy="796413"/>
          </a:xfrm>
        </p:spPr>
        <p:txBody>
          <a:bodyPr/>
          <a:lstStyle/>
          <a:p>
            <a:pPr algn="ctr"/>
            <a:r>
              <a:rPr lang="en-ZA" dirty="0"/>
              <a:t>Viewership by race</a:t>
            </a:r>
          </a:p>
        </p:txBody>
      </p:sp>
      <p:graphicFrame>
        <p:nvGraphicFramePr>
          <p:cNvPr id="4" name="Content Placeholder 3">
            <a:extLst>
              <a:ext uri="{FF2B5EF4-FFF2-40B4-BE49-F238E27FC236}">
                <a16:creationId xmlns:a16="http://schemas.microsoft.com/office/drawing/2014/main" id="{CE6F8ABA-5EA0-8C9B-F4D4-A330E8540ED3}"/>
              </a:ext>
            </a:extLst>
          </p:cNvPr>
          <p:cNvGraphicFramePr>
            <a:graphicFrameLocks noGrp="1"/>
          </p:cNvGraphicFramePr>
          <p:nvPr>
            <p:ph idx="1"/>
            <p:extLst>
              <p:ext uri="{D42A27DB-BD31-4B8C-83A1-F6EECF244321}">
                <p14:modId xmlns:p14="http://schemas.microsoft.com/office/powerpoint/2010/main" val="751827377"/>
              </p:ext>
            </p:extLst>
          </p:nvPr>
        </p:nvGraphicFramePr>
        <p:xfrm>
          <a:off x="6387323" y="2069416"/>
          <a:ext cx="5195077" cy="374015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F39F6737-5C88-F703-8396-2F08EDD45419}"/>
              </a:ext>
            </a:extLst>
          </p:cNvPr>
          <p:cNvSpPr txBox="1"/>
          <p:nvPr/>
        </p:nvSpPr>
        <p:spPr>
          <a:xfrm>
            <a:off x="609600" y="5163235"/>
            <a:ext cx="6096000" cy="646331"/>
          </a:xfrm>
          <a:prstGeom prst="rect">
            <a:avLst/>
          </a:prstGeom>
          <a:noFill/>
        </p:spPr>
        <p:txBody>
          <a:bodyPr wrap="square">
            <a:spAutoFit/>
          </a:bodyPr>
          <a:lstStyle/>
          <a:p>
            <a:r>
              <a:rPr lang="en-ZA" dirty="0"/>
              <a:t>235 viewers are unaccounted for. The race is not known at all, hence it was </a:t>
            </a:r>
            <a:r>
              <a:rPr lang="en-ZA" b="1" dirty="0"/>
              <a:t>null</a:t>
            </a:r>
            <a:r>
              <a:rPr lang="en-ZA" dirty="0"/>
              <a:t>.</a:t>
            </a:r>
          </a:p>
        </p:txBody>
      </p:sp>
      <p:sp>
        <p:nvSpPr>
          <p:cNvPr id="8" name="TextBox 7">
            <a:extLst>
              <a:ext uri="{FF2B5EF4-FFF2-40B4-BE49-F238E27FC236}">
                <a16:creationId xmlns:a16="http://schemas.microsoft.com/office/drawing/2014/main" id="{02BBC002-3451-6BB1-EA59-9551218EDD0F}"/>
              </a:ext>
            </a:extLst>
          </p:cNvPr>
          <p:cNvSpPr txBox="1"/>
          <p:nvPr/>
        </p:nvSpPr>
        <p:spPr>
          <a:xfrm>
            <a:off x="609600" y="2542042"/>
            <a:ext cx="6096000" cy="646331"/>
          </a:xfrm>
          <a:prstGeom prst="rect">
            <a:avLst/>
          </a:prstGeom>
          <a:noFill/>
        </p:spPr>
        <p:txBody>
          <a:bodyPr wrap="square">
            <a:spAutoFit/>
          </a:bodyPr>
          <a:lstStyle/>
          <a:p>
            <a:r>
              <a:rPr lang="en-ZA" b="1" dirty="0"/>
              <a:t>Black people </a:t>
            </a:r>
            <a:r>
              <a:rPr lang="en-ZA" dirty="0"/>
              <a:t>are leading with the total viewers that summed to 4516.</a:t>
            </a:r>
          </a:p>
        </p:txBody>
      </p:sp>
      <p:sp>
        <p:nvSpPr>
          <p:cNvPr id="10" name="TextBox 9">
            <a:extLst>
              <a:ext uri="{FF2B5EF4-FFF2-40B4-BE49-F238E27FC236}">
                <a16:creationId xmlns:a16="http://schemas.microsoft.com/office/drawing/2014/main" id="{E6E0E498-6BE3-4692-D773-BA3C008303BB}"/>
              </a:ext>
            </a:extLst>
          </p:cNvPr>
          <p:cNvSpPr txBox="1"/>
          <p:nvPr/>
        </p:nvSpPr>
        <p:spPr>
          <a:xfrm>
            <a:off x="609600" y="3873688"/>
            <a:ext cx="6096000" cy="646331"/>
          </a:xfrm>
          <a:prstGeom prst="rect">
            <a:avLst/>
          </a:prstGeom>
          <a:noFill/>
        </p:spPr>
        <p:txBody>
          <a:bodyPr wrap="square">
            <a:spAutoFit/>
          </a:bodyPr>
          <a:lstStyle/>
          <a:p>
            <a:r>
              <a:rPr lang="en-ZA" b="1" dirty="0"/>
              <a:t>Other races </a:t>
            </a:r>
            <a:r>
              <a:rPr lang="en-ZA" dirty="0"/>
              <a:t>that are not specified have the least number of viewers which is only 108</a:t>
            </a:r>
          </a:p>
        </p:txBody>
      </p:sp>
    </p:spTree>
    <p:extLst>
      <p:ext uri="{BB962C8B-B14F-4D97-AF65-F5344CB8AC3E}">
        <p14:creationId xmlns:p14="http://schemas.microsoft.com/office/powerpoint/2010/main" val="413640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07D09-63BC-8F30-3D7E-BC0BB0D72C18}"/>
              </a:ext>
            </a:extLst>
          </p:cNvPr>
          <p:cNvSpPr>
            <a:spLocks noGrp="1"/>
          </p:cNvSpPr>
          <p:nvPr>
            <p:ph type="title"/>
          </p:nvPr>
        </p:nvSpPr>
        <p:spPr/>
        <p:txBody>
          <a:bodyPr/>
          <a:lstStyle/>
          <a:p>
            <a:r>
              <a:rPr lang="en-ZA" dirty="0"/>
              <a:t>Viewer demographics by gender</a:t>
            </a:r>
          </a:p>
        </p:txBody>
      </p:sp>
      <p:graphicFrame>
        <p:nvGraphicFramePr>
          <p:cNvPr id="4" name="Content Placeholder 3">
            <a:extLst>
              <a:ext uri="{FF2B5EF4-FFF2-40B4-BE49-F238E27FC236}">
                <a16:creationId xmlns:a16="http://schemas.microsoft.com/office/drawing/2014/main" id="{E83309FE-4E6E-3D32-0703-E410FF4E2EFE}"/>
              </a:ext>
            </a:extLst>
          </p:cNvPr>
          <p:cNvGraphicFramePr>
            <a:graphicFrameLocks noGrp="1"/>
          </p:cNvGraphicFramePr>
          <p:nvPr>
            <p:ph idx="1"/>
            <p:extLst>
              <p:ext uri="{D42A27DB-BD31-4B8C-83A1-F6EECF244321}">
                <p14:modId xmlns:p14="http://schemas.microsoft.com/office/powerpoint/2010/main" val="478766786"/>
              </p:ext>
            </p:extLst>
          </p:nvPr>
        </p:nvGraphicFramePr>
        <p:xfrm>
          <a:off x="6096000" y="2222500"/>
          <a:ext cx="5295900" cy="3740150"/>
        </p:xfrm>
        <a:graphic>
          <a:graphicData uri="http://schemas.openxmlformats.org/drawingml/2006/chart">
            <c:chart xmlns:c="http://schemas.openxmlformats.org/drawingml/2006/chart" xmlns:r="http://schemas.openxmlformats.org/officeDocument/2006/relationships" r:id="rId2"/>
          </a:graphicData>
        </a:graphic>
      </p:graphicFrame>
      <p:pic>
        <p:nvPicPr>
          <p:cNvPr id="5" name="Graphic 4" descr="Gender with solid fill">
            <a:extLst>
              <a:ext uri="{FF2B5EF4-FFF2-40B4-BE49-F238E27FC236}">
                <a16:creationId xmlns:a16="http://schemas.microsoft.com/office/drawing/2014/main" id="{68D44794-FB92-2DD7-1201-367C7C5616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43950" y="913892"/>
            <a:ext cx="914400" cy="914400"/>
          </a:xfrm>
          <a:prstGeom prst="rect">
            <a:avLst/>
          </a:prstGeom>
        </p:spPr>
      </p:pic>
      <p:sp>
        <p:nvSpPr>
          <p:cNvPr id="7" name="TextBox 6">
            <a:extLst>
              <a:ext uri="{FF2B5EF4-FFF2-40B4-BE49-F238E27FC236}">
                <a16:creationId xmlns:a16="http://schemas.microsoft.com/office/drawing/2014/main" id="{2A3C2E8C-B2D0-D8ED-59BB-6D5DF2BBC2DD}"/>
              </a:ext>
            </a:extLst>
          </p:cNvPr>
          <p:cNvSpPr txBox="1"/>
          <p:nvPr/>
        </p:nvSpPr>
        <p:spPr>
          <a:xfrm>
            <a:off x="800100" y="1828292"/>
            <a:ext cx="3029974" cy="1477328"/>
          </a:xfrm>
          <a:prstGeom prst="rect">
            <a:avLst/>
          </a:prstGeom>
          <a:noFill/>
        </p:spPr>
        <p:txBody>
          <a:bodyPr wrap="square">
            <a:spAutoFit/>
          </a:bodyPr>
          <a:lstStyle/>
          <a:p>
            <a:r>
              <a:rPr lang="en-ZA" dirty="0"/>
              <a:t>Total viewers analysed: </a:t>
            </a:r>
          </a:p>
          <a:p>
            <a:r>
              <a:rPr lang="en-ZA" dirty="0"/>
              <a:t>Male: 9190 (82%)</a:t>
            </a:r>
          </a:p>
          <a:p>
            <a:r>
              <a:rPr lang="en-ZA" dirty="0"/>
              <a:t>Female: 1056 (9%)</a:t>
            </a:r>
          </a:p>
          <a:p>
            <a:r>
              <a:rPr lang="en-ZA" dirty="0"/>
              <a:t>Other: 828(7)</a:t>
            </a:r>
          </a:p>
          <a:p>
            <a:r>
              <a:rPr lang="en-ZA" dirty="0"/>
              <a:t>Null: 221(2%)</a:t>
            </a:r>
          </a:p>
        </p:txBody>
      </p:sp>
      <p:sp>
        <p:nvSpPr>
          <p:cNvPr id="9" name="TextBox 8">
            <a:extLst>
              <a:ext uri="{FF2B5EF4-FFF2-40B4-BE49-F238E27FC236}">
                <a16:creationId xmlns:a16="http://schemas.microsoft.com/office/drawing/2014/main" id="{B6F7B62F-6CAE-E354-B51A-6FC936BCE2FB}"/>
              </a:ext>
            </a:extLst>
          </p:cNvPr>
          <p:cNvSpPr txBox="1"/>
          <p:nvPr/>
        </p:nvSpPr>
        <p:spPr>
          <a:xfrm>
            <a:off x="700635" y="3492410"/>
            <a:ext cx="5476240" cy="1200329"/>
          </a:xfrm>
          <a:prstGeom prst="rect">
            <a:avLst/>
          </a:prstGeom>
          <a:noFill/>
        </p:spPr>
        <p:txBody>
          <a:bodyPr wrap="square">
            <a:spAutoFit/>
          </a:bodyPr>
          <a:lstStyle/>
          <a:p>
            <a:r>
              <a:rPr lang="en-ZA" b="1" dirty="0"/>
              <a:t>Male viewers </a:t>
            </a:r>
            <a:r>
              <a:rPr lang="en-ZA" dirty="0"/>
              <a:t>represent 82% of the viewers.</a:t>
            </a:r>
          </a:p>
          <a:p>
            <a:r>
              <a:rPr lang="en-ZA" b="1" dirty="0"/>
              <a:t>Top-performing content was sport-related, </a:t>
            </a:r>
            <a:r>
              <a:rPr lang="en-ZA" dirty="0"/>
              <a:t>which historically indexes higher with male audiences per industry benchmarks.</a:t>
            </a:r>
          </a:p>
        </p:txBody>
      </p:sp>
      <p:sp>
        <p:nvSpPr>
          <p:cNvPr id="11" name="TextBox 10">
            <a:extLst>
              <a:ext uri="{FF2B5EF4-FFF2-40B4-BE49-F238E27FC236}">
                <a16:creationId xmlns:a16="http://schemas.microsoft.com/office/drawing/2014/main" id="{65FF3A9A-7017-B4A6-5CE2-289E81EAFD31}"/>
              </a:ext>
            </a:extLst>
          </p:cNvPr>
          <p:cNvSpPr txBox="1"/>
          <p:nvPr/>
        </p:nvSpPr>
        <p:spPr>
          <a:xfrm>
            <a:off x="700635" y="5190006"/>
            <a:ext cx="5295900" cy="646331"/>
          </a:xfrm>
          <a:prstGeom prst="rect">
            <a:avLst/>
          </a:prstGeom>
          <a:noFill/>
        </p:spPr>
        <p:txBody>
          <a:bodyPr wrap="square">
            <a:spAutoFit/>
          </a:bodyPr>
          <a:lstStyle/>
          <a:p>
            <a:r>
              <a:rPr lang="en-ZA" b="1" dirty="0"/>
              <a:t>Other gender </a:t>
            </a:r>
            <a:r>
              <a:rPr lang="en-ZA" dirty="0"/>
              <a:t>is non-binary and </a:t>
            </a:r>
            <a:r>
              <a:rPr lang="en-ZA" b="1" dirty="0"/>
              <a:t>NULLs </a:t>
            </a:r>
            <a:r>
              <a:rPr lang="en-ZA" dirty="0"/>
              <a:t>are people who did not specify their gender.</a:t>
            </a:r>
          </a:p>
        </p:txBody>
      </p:sp>
    </p:spTree>
    <p:extLst>
      <p:ext uri="{BB962C8B-B14F-4D97-AF65-F5344CB8AC3E}">
        <p14:creationId xmlns:p14="http://schemas.microsoft.com/office/powerpoint/2010/main" val="1911690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8841A-01F9-E6BB-A43D-C4B2111C455B}"/>
              </a:ext>
            </a:extLst>
          </p:cNvPr>
          <p:cNvSpPr>
            <a:spLocks noGrp="1"/>
          </p:cNvSpPr>
          <p:nvPr>
            <p:ph type="title"/>
          </p:nvPr>
        </p:nvSpPr>
        <p:spPr>
          <a:xfrm>
            <a:off x="700635" y="914400"/>
            <a:ext cx="10691265" cy="646331"/>
          </a:xfrm>
        </p:spPr>
        <p:txBody>
          <a:bodyPr>
            <a:normAutofit fontScale="90000"/>
          </a:bodyPr>
          <a:lstStyle/>
          <a:p>
            <a:pPr algn="ctr"/>
            <a:r>
              <a:rPr lang="en-ZA" dirty="0"/>
              <a:t>Viewership by age</a:t>
            </a:r>
          </a:p>
        </p:txBody>
      </p:sp>
      <p:graphicFrame>
        <p:nvGraphicFramePr>
          <p:cNvPr id="6" name="Content Placeholder 5">
            <a:extLst>
              <a:ext uri="{FF2B5EF4-FFF2-40B4-BE49-F238E27FC236}">
                <a16:creationId xmlns:a16="http://schemas.microsoft.com/office/drawing/2014/main" id="{B31C4E4B-A484-C304-8B59-83CF9A7F8D5E}"/>
              </a:ext>
            </a:extLst>
          </p:cNvPr>
          <p:cNvGraphicFramePr>
            <a:graphicFrameLocks noGrp="1"/>
          </p:cNvGraphicFramePr>
          <p:nvPr>
            <p:ph idx="1"/>
            <p:extLst>
              <p:ext uri="{D42A27DB-BD31-4B8C-83A1-F6EECF244321}">
                <p14:modId xmlns:p14="http://schemas.microsoft.com/office/powerpoint/2010/main" val="3244426347"/>
              </p:ext>
            </p:extLst>
          </p:nvPr>
        </p:nvGraphicFramePr>
        <p:xfrm>
          <a:off x="5892800" y="2222500"/>
          <a:ext cx="6116320" cy="374015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C79A0673-A10F-C21D-9B95-DC55D5CF7F08}"/>
              </a:ext>
            </a:extLst>
          </p:cNvPr>
          <p:cNvSpPr txBox="1"/>
          <p:nvPr/>
        </p:nvSpPr>
        <p:spPr>
          <a:xfrm>
            <a:off x="700635" y="1647830"/>
            <a:ext cx="4867045" cy="584775"/>
          </a:xfrm>
          <a:prstGeom prst="rect">
            <a:avLst/>
          </a:prstGeom>
          <a:noFill/>
        </p:spPr>
        <p:txBody>
          <a:bodyPr wrap="square">
            <a:spAutoFit/>
          </a:bodyPr>
          <a:lstStyle/>
          <a:p>
            <a:r>
              <a:rPr lang="en-ZA" sz="1600" dirty="0"/>
              <a:t>The TRENDLINE clearly shows that the </a:t>
            </a:r>
            <a:r>
              <a:rPr lang="en-ZA" sz="1600" i="1" dirty="0"/>
              <a:t>more people age, the less they watch TV.</a:t>
            </a:r>
          </a:p>
        </p:txBody>
      </p:sp>
      <p:sp>
        <p:nvSpPr>
          <p:cNvPr id="10" name="TextBox 9">
            <a:extLst>
              <a:ext uri="{FF2B5EF4-FFF2-40B4-BE49-F238E27FC236}">
                <a16:creationId xmlns:a16="http://schemas.microsoft.com/office/drawing/2014/main" id="{2BAD0C89-5E2A-32CE-EF51-84AA1BA0EC66}"/>
              </a:ext>
            </a:extLst>
          </p:cNvPr>
          <p:cNvSpPr txBox="1"/>
          <p:nvPr/>
        </p:nvSpPr>
        <p:spPr>
          <a:xfrm>
            <a:off x="700635" y="2632256"/>
            <a:ext cx="4674005" cy="584775"/>
          </a:xfrm>
          <a:prstGeom prst="rect">
            <a:avLst/>
          </a:prstGeom>
          <a:noFill/>
        </p:spPr>
        <p:txBody>
          <a:bodyPr wrap="square">
            <a:spAutoFit/>
          </a:bodyPr>
          <a:lstStyle/>
          <a:p>
            <a:r>
              <a:rPr lang="en-ZA" sz="1600" b="1" dirty="0"/>
              <a:t>Adults and young adults </a:t>
            </a:r>
            <a:r>
              <a:rPr lang="en-ZA" sz="1600" dirty="0"/>
              <a:t>are leading with 4991 and 3933, respectively</a:t>
            </a:r>
          </a:p>
        </p:txBody>
      </p:sp>
      <p:sp>
        <p:nvSpPr>
          <p:cNvPr id="12" name="TextBox 11">
            <a:extLst>
              <a:ext uri="{FF2B5EF4-FFF2-40B4-BE49-F238E27FC236}">
                <a16:creationId xmlns:a16="http://schemas.microsoft.com/office/drawing/2014/main" id="{9CD84EC8-2D7C-1566-1BCB-E6DF450CF162}"/>
              </a:ext>
            </a:extLst>
          </p:cNvPr>
          <p:cNvSpPr txBox="1"/>
          <p:nvPr/>
        </p:nvSpPr>
        <p:spPr>
          <a:xfrm>
            <a:off x="700635" y="3630910"/>
            <a:ext cx="5232400" cy="830997"/>
          </a:xfrm>
          <a:prstGeom prst="rect">
            <a:avLst/>
          </a:prstGeom>
          <a:noFill/>
        </p:spPr>
        <p:txBody>
          <a:bodyPr wrap="square">
            <a:spAutoFit/>
          </a:bodyPr>
          <a:lstStyle/>
          <a:p>
            <a:r>
              <a:rPr lang="en-ZA" sz="1600" b="1" dirty="0"/>
              <a:t>Teenagers</a:t>
            </a:r>
            <a:r>
              <a:rPr lang="en-ZA" sz="1600" dirty="0"/>
              <a:t> views are at 181, might because the get to watch TV on weekends and attending school on weekdays.</a:t>
            </a:r>
          </a:p>
        </p:txBody>
      </p:sp>
      <p:sp>
        <p:nvSpPr>
          <p:cNvPr id="14" name="TextBox 13">
            <a:extLst>
              <a:ext uri="{FF2B5EF4-FFF2-40B4-BE49-F238E27FC236}">
                <a16:creationId xmlns:a16="http://schemas.microsoft.com/office/drawing/2014/main" id="{55891607-F00A-2669-E243-A6C40E301194}"/>
              </a:ext>
            </a:extLst>
          </p:cNvPr>
          <p:cNvSpPr txBox="1"/>
          <p:nvPr/>
        </p:nvSpPr>
        <p:spPr>
          <a:xfrm>
            <a:off x="700635" y="4820420"/>
            <a:ext cx="5232400" cy="830997"/>
          </a:xfrm>
          <a:prstGeom prst="rect">
            <a:avLst/>
          </a:prstGeom>
          <a:noFill/>
        </p:spPr>
        <p:txBody>
          <a:bodyPr wrap="square">
            <a:spAutoFit/>
          </a:bodyPr>
          <a:lstStyle/>
          <a:p>
            <a:r>
              <a:rPr lang="en-ZA" sz="1600" b="1" dirty="0"/>
              <a:t>Seniors</a:t>
            </a:r>
            <a:r>
              <a:rPr lang="en-ZA" sz="1600" dirty="0"/>
              <a:t> has the lowest number of viewers because they barely watch TV, reasons can be weak eye sight and they sleeping early.</a:t>
            </a:r>
          </a:p>
        </p:txBody>
      </p:sp>
    </p:spTree>
    <p:extLst>
      <p:ext uri="{BB962C8B-B14F-4D97-AF65-F5344CB8AC3E}">
        <p14:creationId xmlns:p14="http://schemas.microsoft.com/office/powerpoint/2010/main" val="2401375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CD896-094A-F329-A294-D2687734D218}"/>
              </a:ext>
            </a:extLst>
          </p:cNvPr>
          <p:cNvSpPr>
            <a:spLocks noGrp="1"/>
          </p:cNvSpPr>
          <p:nvPr>
            <p:ph type="title"/>
          </p:nvPr>
        </p:nvSpPr>
        <p:spPr>
          <a:xfrm>
            <a:off x="700635" y="914400"/>
            <a:ext cx="10691265" cy="741569"/>
          </a:xfrm>
        </p:spPr>
        <p:txBody>
          <a:bodyPr/>
          <a:lstStyle/>
          <a:p>
            <a:pPr algn="ctr"/>
            <a:r>
              <a:rPr lang="en-ZA" dirty="0"/>
              <a:t>VIEWERSHIP BY MONTH</a:t>
            </a:r>
          </a:p>
        </p:txBody>
      </p:sp>
      <p:graphicFrame>
        <p:nvGraphicFramePr>
          <p:cNvPr id="8" name="Content Placeholder 7">
            <a:extLst>
              <a:ext uri="{FF2B5EF4-FFF2-40B4-BE49-F238E27FC236}">
                <a16:creationId xmlns:a16="http://schemas.microsoft.com/office/drawing/2014/main" id="{A61253B3-05C2-9E6E-B274-B0F01D7FCD79}"/>
              </a:ext>
            </a:extLst>
          </p:cNvPr>
          <p:cNvGraphicFramePr>
            <a:graphicFrameLocks noGrp="1"/>
          </p:cNvGraphicFramePr>
          <p:nvPr>
            <p:ph idx="1"/>
            <p:extLst>
              <p:ext uri="{D42A27DB-BD31-4B8C-83A1-F6EECF244321}">
                <p14:modId xmlns:p14="http://schemas.microsoft.com/office/powerpoint/2010/main" val="840363205"/>
              </p:ext>
            </p:extLst>
          </p:nvPr>
        </p:nvGraphicFramePr>
        <p:xfrm>
          <a:off x="5936974" y="1655969"/>
          <a:ext cx="5295900" cy="374015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D7FE4D63-2B6A-D7B4-8F43-6039CE86ABD1}"/>
              </a:ext>
            </a:extLst>
          </p:cNvPr>
          <p:cNvSpPr txBox="1"/>
          <p:nvPr/>
        </p:nvSpPr>
        <p:spPr>
          <a:xfrm>
            <a:off x="516835" y="1997765"/>
            <a:ext cx="5068956" cy="3693319"/>
          </a:xfrm>
          <a:prstGeom prst="rect">
            <a:avLst/>
          </a:prstGeom>
          <a:noFill/>
        </p:spPr>
        <p:txBody>
          <a:bodyPr wrap="square" rtlCol="0">
            <a:spAutoFit/>
          </a:bodyPr>
          <a:lstStyle/>
          <a:p>
            <a:r>
              <a:rPr lang="en-ZA" b="1" dirty="0"/>
              <a:t>March has the highest number of viewers</a:t>
            </a:r>
            <a:r>
              <a:rPr lang="en-ZA" b="1" i="1" dirty="0"/>
              <a:t>, </a:t>
            </a:r>
            <a:r>
              <a:rPr lang="en-ZA" dirty="0"/>
              <a:t>at this case 4816. March has an extremely high viewership for </a:t>
            </a:r>
            <a:r>
              <a:rPr lang="en-ZA" b="1" i="1" dirty="0"/>
              <a:t>sports</a:t>
            </a:r>
            <a:r>
              <a:rPr lang="en-ZA" dirty="0"/>
              <a:t>.</a:t>
            </a:r>
          </a:p>
          <a:p>
            <a:endParaRPr lang="en-ZA" dirty="0"/>
          </a:p>
          <a:p>
            <a:endParaRPr lang="en-ZA" dirty="0"/>
          </a:p>
          <a:p>
            <a:r>
              <a:rPr lang="en-ZA" b="1" dirty="0"/>
              <a:t>April has the lowest number of viewers, </a:t>
            </a:r>
            <a:r>
              <a:rPr lang="en-ZA" dirty="0"/>
              <a:t>at this case only 5. This could have happened because of many  reasons. </a:t>
            </a:r>
          </a:p>
          <a:p>
            <a:endParaRPr lang="en-ZA" dirty="0"/>
          </a:p>
          <a:p>
            <a:r>
              <a:rPr lang="en-ZA" dirty="0"/>
              <a:t>Examples: </a:t>
            </a:r>
            <a:r>
              <a:rPr lang="en-ZA" b="1" i="1" dirty="0"/>
              <a:t>Rise of Digital and Social Media</a:t>
            </a:r>
            <a:r>
              <a:rPr lang="en-ZA" i="1" dirty="0"/>
              <a:t>.</a:t>
            </a:r>
          </a:p>
          <a:p>
            <a:r>
              <a:rPr lang="en-ZA" dirty="0"/>
              <a:t>                   </a:t>
            </a:r>
            <a:r>
              <a:rPr lang="en-ZA" b="1" i="1" dirty="0"/>
              <a:t>Spring Break and better weather:                        </a:t>
            </a:r>
            <a:r>
              <a:rPr lang="en-ZA" dirty="0"/>
              <a:t>Fewer people stay indoors because the majority is outside.</a:t>
            </a:r>
          </a:p>
        </p:txBody>
      </p:sp>
    </p:spTree>
    <p:extLst>
      <p:ext uri="{BB962C8B-B14F-4D97-AF65-F5344CB8AC3E}">
        <p14:creationId xmlns:p14="http://schemas.microsoft.com/office/powerpoint/2010/main" val="196333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1E439-71DC-9392-83ED-1182CECF189B}"/>
              </a:ext>
            </a:extLst>
          </p:cNvPr>
          <p:cNvSpPr>
            <a:spLocks noGrp="1"/>
          </p:cNvSpPr>
          <p:nvPr>
            <p:ph type="title"/>
          </p:nvPr>
        </p:nvSpPr>
        <p:spPr>
          <a:xfrm>
            <a:off x="700635" y="914400"/>
            <a:ext cx="10691265" cy="707417"/>
          </a:xfrm>
        </p:spPr>
        <p:txBody>
          <a:bodyPr/>
          <a:lstStyle/>
          <a:p>
            <a:pPr algn="ctr"/>
            <a:r>
              <a:rPr lang="en-ZA" dirty="0"/>
              <a:t>DAILY viewership</a:t>
            </a:r>
          </a:p>
        </p:txBody>
      </p:sp>
      <p:graphicFrame>
        <p:nvGraphicFramePr>
          <p:cNvPr id="6" name="Content Placeholder 5">
            <a:extLst>
              <a:ext uri="{FF2B5EF4-FFF2-40B4-BE49-F238E27FC236}">
                <a16:creationId xmlns:a16="http://schemas.microsoft.com/office/drawing/2014/main" id="{46F39A58-5F5D-3269-9315-43F58BB0C271}"/>
              </a:ext>
            </a:extLst>
          </p:cNvPr>
          <p:cNvGraphicFramePr>
            <a:graphicFrameLocks noGrp="1"/>
          </p:cNvGraphicFramePr>
          <p:nvPr>
            <p:ph idx="1"/>
            <p:extLst>
              <p:ext uri="{D42A27DB-BD31-4B8C-83A1-F6EECF244321}">
                <p14:modId xmlns:p14="http://schemas.microsoft.com/office/powerpoint/2010/main" val="1019727827"/>
              </p:ext>
            </p:extLst>
          </p:nvPr>
        </p:nvGraphicFramePr>
        <p:xfrm>
          <a:off x="6939282" y="2222500"/>
          <a:ext cx="4452618" cy="374015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B7916EAA-853B-BC66-2599-1E79E43C7AE1}"/>
              </a:ext>
            </a:extLst>
          </p:cNvPr>
          <p:cNvSpPr txBox="1"/>
          <p:nvPr/>
        </p:nvSpPr>
        <p:spPr>
          <a:xfrm>
            <a:off x="508000" y="2221992"/>
            <a:ext cx="6431282" cy="1200329"/>
          </a:xfrm>
          <a:prstGeom prst="rect">
            <a:avLst/>
          </a:prstGeom>
          <a:noFill/>
        </p:spPr>
        <p:txBody>
          <a:bodyPr wrap="square">
            <a:spAutoFit/>
          </a:bodyPr>
          <a:lstStyle/>
          <a:p>
            <a:r>
              <a:rPr lang="en-ZA" b="1" dirty="0"/>
              <a:t>The afternoon slot  </a:t>
            </a:r>
            <a:r>
              <a:rPr lang="en-ZA" dirty="0"/>
              <a:t>has the highest number of viewers (3734) because it targets specific demographics who are home, such as homemakers, retires, adults from works and students from school. It is time to relax after a long day.</a:t>
            </a:r>
          </a:p>
        </p:txBody>
      </p:sp>
      <p:sp>
        <p:nvSpPr>
          <p:cNvPr id="10" name="TextBox 9">
            <a:extLst>
              <a:ext uri="{FF2B5EF4-FFF2-40B4-BE49-F238E27FC236}">
                <a16:creationId xmlns:a16="http://schemas.microsoft.com/office/drawing/2014/main" id="{80C0E19E-8B08-CF51-AF0E-966FBB5F0F33}"/>
              </a:ext>
            </a:extLst>
          </p:cNvPr>
          <p:cNvSpPr txBox="1"/>
          <p:nvPr/>
        </p:nvSpPr>
        <p:spPr>
          <a:xfrm>
            <a:off x="508000" y="3769409"/>
            <a:ext cx="6096000" cy="646331"/>
          </a:xfrm>
          <a:prstGeom prst="rect">
            <a:avLst/>
          </a:prstGeom>
          <a:noFill/>
        </p:spPr>
        <p:txBody>
          <a:bodyPr wrap="square">
            <a:spAutoFit/>
          </a:bodyPr>
          <a:lstStyle/>
          <a:p>
            <a:r>
              <a:rPr lang="en-ZA" b="1" dirty="0"/>
              <a:t>Late nights </a:t>
            </a:r>
            <a:r>
              <a:rPr lang="en-ZA" dirty="0"/>
              <a:t>has the lowest (561) because most programs have adult-orientated scenes or stronger language.</a:t>
            </a:r>
          </a:p>
        </p:txBody>
      </p:sp>
      <p:sp>
        <p:nvSpPr>
          <p:cNvPr id="12" name="TextBox 11">
            <a:extLst>
              <a:ext uri="{FF2B5EF4-FFF2-40B4-BE49-F238E27FC236}">
                <a16:creationId xmlns:a16="http://schemas.microsoft.com/office/drawing/2014/main" id="{145B31C7-2A4F-EF41-07D0-760AE5AC19E4}"/>
              </a:ext>
            </a:extLst>
          </p:cNvPr>
          <p:cNvSpPr txBox="1"/>
          <p:nvPr/>
        </p:nvSpPr>
        <p:spPr>
          <a:xfrm>
            <a:off x="508000" y="5015915"/>
            <a:ext cx="6096000" cy="646331"/>
          </a:xfrm>
          <a:prstGeom prst="rect">
            <a:avLst/>
          </a:prstGeom>
          <a:noFill/>
        </p:spPr>
        <p:txBody>
          <a:bodyPr wrap="square">
            <a:spAutoFit/>
          </a:bodyPr>
          <a:lstStyle/>
          <a:p>
            <a:r>
              <a:rPr lang="en-ZA" b="1" dirty="0"/>
              <a:t>Midnight</a:t>
            </a:r>
            <a:r>
              <a:rPr lang="en-ZA" dirty="0"/>
              <a:t> viewing at 1295 is because of night shift workers or people with insomnia.</a:t>
            </a:r>
          </a:p>
        </p:txBody>
      </p:sp>
    </p:spTree>
    <p:extLst>
      <p:ext uri="{BB962C8B-B14F-4D97-AF65-F5344CB8AC3E}">
        <p14:creationId xmlns:p14="http://schemas.microsoft.com/office/powerpoint/2010/main" val="151649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77BBB-4552-72A2-F759-A93AAA21033F}"/>
              </a:ext>
            </a:extLst>
          </p:cNvPr>
          <p:cNvSpPr>
            <a:spLocks noGrp="1"/>
          </p:cNvSpPr>
          <p:nvPr>
            <p:ph type="title"/>
          </p:nvPr>
        </p:nvSpPr>
        <p:spPr>
          <a:xfrm>
            <a:off x="700635" y="914400"/>
            <a:ext cx="10691265" cy="802640"/>
          </a:xfrm>
        </p:spPr>
        <p:txBody>
          <a:bodyPr/>
          <a:lstStyle/>
          <a:p>
            <a:pPr algn="ctr"/>
            <a:r>
              <a:rPr lang="en-ZA" dirty="0"/>
              <a:t>Views per channel</a:t>
            </a:r>
          </a:p>
        </p:txBody>
      </p:sp>
      <p:graphicFrame>
        <p:nvGraphicFramePr>
          <p:cNvPr id="6" name="Content Placeholder 5">
            <a:extLst>
              <a:ext uri="{FF2B5EF4-FFF2-40B4-BE49-F238E27FC236}">
                <a16:creationId xmlns:a16="http://schemas.microsoft.com/office/drawing/2014/main" id="{75DCBD81-5BDE-3C6F-BAA2-19B2ACF23B49}"/>
              </a:ext>
            </a:extLst>
          </p:cNvPr>
          <p:cNvGraphicFramePr>
            <a:graphicFrameLocks noGrp="1"/>
          </p:cNvGraphicFramePr>
          <p:nvPr>
            <p:ph idx="1"/>
            <p:extLst>
              <p:ext uri="{D42A27DB-BD31-4B8C-83A1-F6EECF244321}">
                <p14:modId xmlns:p14="http://schemas.microsoft.com/office/powerpoint/2010/main" val="2867074915"/>
              </p:ext>
            </p:extLst>
          </p:nvPr>
        </p:nvGraphicFramePr>
        <p:xfrm>
          <a:off x="700088" y="1717040"/>
          <a:ext cx="10691812" cy="424561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21469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73AC4-5920-2FAB-CCCF-31730A8CFD60}"/>
              </a:ext>
            </a:extLst>
          </p:cNvPr>
          <p:cNvSpPr>
            <a:spLocks noGrp="1"/>
          </p:cNvSpPr>
          <p:nvPr>
            <p:ph type="title"/>
          </p:nvPr>
        </p:nvSpPr>
        <p:spPr/>
        <p:txBody>
          <a:bodyPr/>
          <a:lstStyle/>
          <a:p>
            <a:r>
              <a:rPr lang="en-ZA" dirty="0"/>
              <a:t>Top 5 Of most watched shows.</a:t>
            </a:r>
          </a:p>
        </p:txBody>
      </p:sp>
      <p:graphicFrame>
        <p:nvGraphicFramePr>
          <p:cNvPr id="7" name="Content Placeholder 6">
            <a:extLst>
              <a:ext uri="{FF2B5EF4-FFF2-40B4-BE49-F238E27FC236}">
                <a16:creationId xmlns:a16="http://schemas.microsoft.com/office/drawing/2014/main" id="{DD770B58-2BF5-AC82-84B9-F6702A86A0BE}"/>
              </a:ext>
            </a:extLst>
          </p:cNvPr>
          <p:cNvGraphicFramePr>
            <a:graphicFrameLocks noGrp="1"/>
          </p:cNvGraphicFramePr>
          <p:nvPr>
            <p:ph idx="1"/>
            <p:extLst>
              <p:ext uri="{D42A27DB-BD31-4B8C-83A1-F6EECF244321}">
                <p14:modId xmlns:p14="http://schemas.microsoft.com/office/powerpoint/2010/main" val="490802482"/>
              </p:ext>
            </p:extLst>
          </p:nvPr>
        </p:nvGraphicFramePr>
        <p:xfrm>
          <a:off x="6563360" y="2222500"/>
          <a:ext cx="4828540" cy="3740150"/>
        </p:xfrm>
        <a:graphic>
          <a:graphicData uri="http://schemas.openxmlformats.org/drawingml/2006/chart">
            <c:chart xmlns:c="http://schemas.openxmlformats.org/drawingml/2006/chart" xmlns:r="http://schemas.openxmlformats.org/officeDocument/2006/relationships" r:id="rId2"/>
          </a:graphicData>
        </a:graphic>
      </p:graphicFrame>
      <p:pic>
        <p:nvPicPr>
          <p:cNvPr id="4" name="Graphic 3" descr="Performance Curtains with solid fill">
            <a:extLst>
              <a:ext uri="{FF2B5EF4-FFF2-40B4-BE49-F238E27FC236}">
                <a16:creationId xmlns:a16="http://schemas.microsoft.com/office/drawing/2014/main" id="{C08FC8D7-D634-37ED-4910-E0FC36D1A1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66083" y="913892"/>
            <a:ext cx="914400" cy="914400"/>
          </a:xfrm>
          <a:prstGeom prst="rect">
            <a:avLst/>
          </a:prstGeom>
        </p:spPr>
      </p:pic>
      <p:sp>
        <p:nvSpPr>
          <p:cNvPr id="9" name="TextBox 8">
            <a:extLst>
              <a:ext uri="{FF2B5EF4-FFF2-40B4-BE49-F238E27FC236}">
                <a16:creationId xmlns:a16="http://schemas.microsoft.com/office/drawing/2014/main" id="{FDEB5BAA-0230-D023-2545-9BEF57FAC09A}"/>
              </a:ext>
            </a:extLst>
          </p:cNvPr>
          <p:cNvSpPr txBox="1"/>
          <p:nvPr/>
        </p:nvSpPr>
        <p:spPr>
          <a:xfrm>
            <a:off x="700635" y="2042775"/>
            <a:ext cx="6096000" cy="923330"/>
          </a:xfrm>
          <a:prstGeom prst="rect">
            <a:avLst/>
          </a:prstGeom>
          <a:noFill/>
        </p:spPr>
        <p:txBody>
          <a:bodyPr wrap="square">
            <a:spAutoFit/>
          </a:bodyPr>
          <a:lstStyle/>
          <a:p>
            <a:r>
              <a:rPr lang="en-ZA" b="1" dirty="0"/>
              <a:t>SuperSport Live Events </a:t>
            </a:r>
            <a:r>
              <a:rPr lang="en-ZA" dirty="0"/>
              <a:t>is leading with 1638 viewers. This is because it was sport season as ICC </a:t>
            </a:r>
            <a:r>
              <a:rPr lang="en-ZA" b="1" dirty="0"/>
              <a:t>Cricket World Cup </a:t>
            </a:r>
            <a:r>
              <a:rPr lang="en-ZA" dirty="0"/>
              <a:t>is in the second place with 1465 viewers.</a:t>
            </a:r>
          </a:p>
        </p:txBody>
      </p:sp>
      <p:pic>
        <p:nvPicPr>
          <p:cNvPr id="10" name="Graphic 9" descr="Cricket outline">
            <a:extLst>
              <a:ext uri="{FF2B5EF4-FFF2-40B4-BE49-F238E27FC236}">
                <a16:creationId xmlns:a16="http://schemas.microsoft.com/office/drawing/2014/main" id="{6FFC6828-6464-D19C-2EC7-6E140FC56D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24097" y="2606097"/>
            <a:ext cx="914400" cy="914400"/>
          </a:xfrm>
          <a:prstGeom prst="rect">
            <a:avLst/>
          </a:prstGeom>
        </p:spPr>
      </p:pic>
      <p:sp>
        <p:nvSpPr>
          <p:cNvPr id="12" name="TextBox 11">
            <a:extLst>
              <a:ext uri="{FF2B5EF4-FFF2-40B4-BE49-F238E27FC236}">
                <a16:creationId xmlns:a16="http://schemas.microsoft.com/office/drawing/2014/main" id="{07A4EF65-9923-9206-1C1B-1030D7C36933}"/>
              </a:ext>
            </a:extLst>
          </p:cNvPr>
          <p:cNvSpPr txBox="1"/>
          <p:nvPr/>
        </p:nvSpPr>
        <p:spPr>
          <a:xfrm>
            <a:off x="800100" y="3758860"/>
            <a:ext cx="6096000" cy="369332"/>
          </a:xfrm>
          <a:prstGeom prst="rect">
            <a:avLst/>
          </a:prstGeom>
          <a:noFill/>
        </p:spPr>
        <p:txBody>
          <a:bodyPr wrap="square">
            <a:spAutoFit/>
          </a:bodyPr>
          <a:lstStyle/>
          <a:p>
            <a:r>
              <a:rPr lang="en-ZA" dirty="0"/>
              <a:t>Music shows made 21% of the views.</a:t>
            </a:r>
          </a:p>
        </p:txBody>
      </p:sp>
      <p:sp>
        <p:nvSpPr>
          <p:cNvPr id="14" name="TextBox 13">
            <a:extLst>
              <a:ext uri="{FF2B5EF4-FFF2-40B4-BE49-F238E27FC236}">
                <a16:creationId xmlns:a16="http://schemas.microsoft.com/office/drawing/2014/main" id="{0C99EC02-8117-FF27-4570-458188C35947}"/>
              </a:ext>
            </a:extLst>
          </p:cNvPr>
          <p:cNvSpPr txBox="1"/>
          <p:nvPr/>
        </p:nvSpPr>
        <p:spPr>
          <a:xfrm>
            <a:off x="800100" y="4920947"/>
            <a:ext cx="6096000" cy="369332"/>
          </a:xfrm>
          <a:prstGeom prst="rect">
            <a:avLst/>
          </a:prstGeom>
          <a:noFill/>
        </p:spPr>
        <p:txBody>
          <a:bodyPr wrap="square">
            <a:spAutoFit/>
          </a:bodyPr>
          <a:lstStyle/>
          <a:p>
            <a:r>
              <a:rPr lang="en-ZA" dirty="0"/>
              <a:t>There is an unknown show that has 1295 viewers.</a:t>
            </a:r>
          </a:p>
        </p:txBody>
      </p:sp>
    </p:spTree>
    <p:extLst>
      <p:ext uri="{BB962C8B-B14F-4D97-AF65-F5344CB8AC3E}">
        <p14:creationId xmlns:p14="http://schemas.microsoft.com/office/powerpoint/2010/main" val="3008882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479833C7-FDE4-4657-B0B1-32BE833C2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ABE7C0B-A2D9-4202-A524-532DA2E2D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8DD2BD5D-C4E9-5ED8-3EDD-989F9A465963}"/>
              </a:ext>
            </a:extLst>
          </p:cNvPr>
          <p:cNvPicPr>
            <a:picLocks noGrp="1" noChangeAspect="1"/>
          </p:cNvPicPr>
          <p:nvPr>
            <p:ph idx="1"/>
          </p:nvPr>
        </p:nvPicPr>
        <p:blipFill>
          <a:blip r:embed="rId3"/>
          <a:srcRect r="10666" b="-1"/>
          <a:stretch>
            <a:fillRect/>
          </a:stretch>
        </p:blipFill>
        <p:spPr>
          <a:xfrm>
            <a:off x="20" y="10"/>
            <a:ext cx="12191979" cy="6857989"/>
          </a:xfrm>
          <a:prstGeom prst="rect">
            <a:avLst/>
          </a:prstGeom>
        </p:spPr>
      </p:pic>
    </p:spTree>
    <p:extLst>
      <p:ext uri="{BB962C8B-B14F-4D97-AF65-F5344CB8AC3E}">
        <p14:creationId xmlns:p14="http://schemas.microsoft.com/office/powerpoint/2010/main" val="2773833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479833C7-FDE4-4657-B0B1-32BE833C2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ABE7C0B-A2D9-4202-A524-532DA2E2D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57D18175-F802-A478-85D8-8E67002DAC99}"/>
              </a:ext>
            </a:extLst>
          </p:cNvPr>
          <p:cNvPicPr>
            <a:picLocks noGrp="1" noChangeAspect="1"/>
          </p:cNvPicPr>
          <p:nvPr>
            <p:ph idx="1"/>
          </p:nvPr>
        </p:nvPicPr>
        <p:blipFill>
          <a:blip r:embed="rId2"/>
          <a:srcRect l="2457" r="210"/>
          <a:stretch>
            <a:fillRect/>
          </a:stretch>
        </p:blipFill>
        <p:spPr>
          <a:xfrm>
            <a:off x="20" y="10"/>
            <a:ext cx="12191979" cy="6857989"/>
          </a:xfrm>
          <a:prstGeom prst="rect">
            <a:avLst/>
          </a:prstGeom>
        </p:spPr>
      </p:pic>
    </p:spTree>
    <p:extLst>
      <p:ext uri="{BB962C8B-B14F-4D97-AF65-F5344CB8AC3E}">
        <p14:creationId xmlns:p14="http://schemas.microsoft.com/office/powerpoint/2010/main" val="3376375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479833C7-FDE4-4657-B0B1-32BE833C2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ABE7C0B-A2D9-4202-A524-532DA2E2D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8B782499-8E8D-30DF-A22C-FDD92A24C426}"/>
              </a:ext>
            </a:extLst>
          </p:cNvPr>
          <p:cNvPicPr>
            <a:picLocks noGrp="1" noChangeAspect="1"/>
          </p:cNvPicPr>
          <p:nvPr>
            <p:ph idx="1"/>
          </p:nvPr>
        </p:nvPicPr>
        <p:blipFill>
          <a:blip r:embed="rId2"/>
          <a:srcRect r="6666"/>
          <a:stretch>
            <a:fillRect/>
          </a:stretch>
        </p:blipFill>
        <p:spPr>
          <a:xfrm>
            <a:off x="20" y="10"/>
            <a:ext cx="12191979" cy="6857989"/>
          </a:xfrm>
          <a:prstGeom prst="rect">
            <a:avLst/>
          </a:prstGeom>
        </p:spPr>
      </p:pic>
    </p:spTree>
    <p:extLst>
      <p:ext uri="{BB962C8B-B14F-4D97-AF65-F5344CB8AC3E}">
        <p14:creationId xmlns:p14="http://schemas.microsoft.com/office/powerpoint/2010/main" val="1136991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D91CA-F3A1-7856-39B7-EFCEE3E3E0A3}"/>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BE69FB3F-E0EB-AC5B-8CFF-A1A87AD22D60}"/>
              </a:ext>
            </a:extLst>
          </p:cNvPr>
          <p:cNvSpPr>
            <a:spLocks noGrp="1"/>
          </p:cNvSpPr>
          <p:nvPr>
            <p:ph idx="1"/>
          </p:nvPr>
        </p:nvSpPr>
        <p:spPr/>
        <p:txBody>
          <a:bodyPr/>
          <a:lstStyle/>
          <a:p>
            <a:endParaRPr lang="en-ZA"/>
          </a:p>
        </p:txBody>
      </p:sp>
      <p:pic>
        <p:nvPicPr>
          <p:cNvPr id="1026" name="Picture 2" descr="This may contain: a paper cut out of a person holding the word thank you on a gray background">
            <a:extLst>
              <a:ext uri="{FF2B5EF4-FFF2-40B4-BE49-F238E27FC236}">
                <a16:creationId xmlns:a16="http://schemas.microsoft.com/office/drawing/2014/main" id="{D7CFFF24-61BD-55BA-7293-C1FAF1C3EE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635" y="783770"/>
            <a:ext cx="11658838" cy="6074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0838277"/>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2037</TotalTime>
  <Words>558</Words>
  <Application>Microsoft Office PowerPoint</Application>
  <PresentationFormat>Widescreen</PresentationFormat>
  <Paragraphs>70</Paragraphs>
  <Slides>14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Calisto MT</vt:lpstr>
      <vt:lpstr>Univers Condensed</vt:lpstr>
      <vt:lpstr>ChronicleVTI</vt:lpstr>
      <vt:lpstr> Bright TV analysis.</vt:lpstr>
      <vt:lpstr>Understanding the data.</vt:lpstr>
      <vt:lpstr>Viewership per province</vt:lpstr>
      <vt:lpstr>Viewership by race</vt:lpstr>
      <vt:lpstr>Viewer demographics by gender</vt:lpstr>
      <vt:lpstr>Viewership by age</vt:lpstr>
      <vt:lpstr>VIEWERSHIP BY MONTH</vt:lpstr>
      <vt:lpstr>DAILY viewership</vt:lpstr>
      <vt:lpstr>Views per channel</vt:lpstr>
      <vt:lpstr>Top 5 Of most watched shows.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Andiswa Asanda Mchunu</dc:creator>
  <cp:lastModifiedBy>Andiswa Asanda Mchunu</cp:lastModifiedBy>
  <cp:revision>3</cp:revision>
  <dcterms:created xsi:type="dcterms:W3CDTF">2026-04-18T03:35:07Z</dcterms:created>
  <dcterms:modified xsi:type="dcterms:W3CDTF">2026-04-19T20:02:09Z</dcterms:modified>
</cp:coreProperties>
</file>